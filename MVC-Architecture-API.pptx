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F1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874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F0C9CF"/>
                </a:solidFill>
                <a:latin typeface="Leelawadee UI"/>
                <a:ea typeface="Leelawadee UI"/>
                <a:cs typeface="Leelawadee UI"/>
              </a:rPr>
              <a:t>CineBook — ระบบจองตั๋วภาพยนตร์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395728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MVC Architecture ของทุก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40156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EBC6CB"/>
                </a:solidFill>
                <a:latin typeface="Leelawadee UI"/>
                <a:ea typeface="Leelawadee UI"/>
                <a:cs typeface="Leelawadee UI"/>
              </a:rPr>
              <a:t>เอกสารประกอบระบบจองตั๋วภาพยนตร์ออนไลน์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062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E7B9C0"/>
                </a:solidFill>
                <a:latin typeface="Leelawadee UI"/>
                <a:ea typeface="Leelawadee UI"/>
                <a:cs typeface="Leelawadee UI"/>
              </a:rPr>
              <a:t>59 endpoint · หน้าละ 1 endpoint · ไล่เส้นทาง View </a:t>
            </a:r>
            <a:r>
              <a:rPr sz="1400" b="0">
                <a:solidFill>
                  <a:srgbClr val="E7B9C0"/>
                </a:solidFill>
                <a:latin typeface="Arial"/>
                <a:ea typeface="Arial"/>
                <a:cs typeface="Arial"/>
              </a:rPr>
              <a:t>→</a:t>
            </a:r>
            <a:r>
              <a:rPr sz="1400" b="0">
                <a:solidFill>
                  <a:srgbClr val="E7B9C0"/>
                </a:solidFill>
                <a:latin typeface="Leelawadee UI"/>
                <a:ea typeface="Leelawadee UI"/>
                <a:cs typeface="Leelawadee UI"/>
              </a:rPr>
              <a:t> Controller </a:t>
            </a:r>
            <a:r>
              <a:rPr sz="1400" b="0">
                <a:solidFill>
                  <a:srgbClr val="E7B9C0"/>
                </a:solidFill>
                <a:latin typeface="Arial"/>
                <a:ea typeface="Arial"/>
                <a:cs typeface="Arial"/>
              </a:rPr>
              <a:t>→</a:t>
            </a:r>
            <a:r>
              <a:rPr sz="1400" b="0">
                <a:solidFill>
                  <a:srgbClr val="E7B9C0"/>
                </a:solidFill>
                <a:latin typeface="Leelawadee UI"/>
                <a:ea typeface="Leelawadee UI"/>
                <a:cs typeface="Leelawadee UI"/>
              </a:rPr>
              <a:t> Model </a:t>
            </a:r>
            <a:r>
              <a:rPr sz="1400" b="0">
                <a:solidFill>
                  <a:srgbClr val="E7B9C0"/>
                </a:solidFill>
                <a:latin typeface="Arial"/>
                <a:ea typeface="Arial"/>
                <a:cs typeface="Arial"/>
              </a:rPr>
              <a:t>→</a:t>
            </a:r>
            <a:r>
              <a:rPr sz="1400" b="0">
                <a:solidFill>
                  <a:srgbClr val="E7B9C0"/>
                </a:solidFill>
                <a:latin typeface="Leelawadee UI"/>
                <a:ea typeface="Leelawadee UI"/>
                <a:cs typeface="Leelawadee UI"/>
              </a:rPr>
              <a:t> Database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ในระบบนี้คืออะไร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4712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ทุกสไลด์ถัดจากนี้ใช้ผังเดียวกัน เปลี่ยนเฉพาะเนื้อหาในกล่องตาม endpoint นั้น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61322"/>
            <a:ext cx="2697480" cy="1730502"/>
          </a:xfrm>
          <a:prstGeom prst="roundRect">
            <a:avLst>
              <a:gd name="adj" fmla="val 6340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1989338"/>
            <a:ext cx="2404872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2336810"/>
            <a:ext cx="2404872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หน้าจอที่ผู้ใช้เห็น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2665994"/>
            <a:ext cx="2404872" cy="742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9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หน้าเว็บที่ผู้ใช้กรอกข้อมูลและกดปุ่ม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9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ส่งคำขอไปยัง Controller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9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รับผลลัพธ์กลับมาแสดงทันที โดยไม่ต้องโหลดหน้าใหม่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9272" y="1861322"/>
            <a:ext cx="2697480" cy="1730502"/>
          </a:xfrm>
          <a:prstGeom prst="roundRect">
            <a:avLst>
              <a:gd name="adj" fmla="val 6340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65576" y="1989338"/>
            <a:ext cx="2404872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65576" y="2336810"/>
            <a:ext cx="2404872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ผู้รับคำขอและตัดสินใจ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5576" y="2665994"/>
            <a:ext cx="2404872" cy="742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9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รับข้อมูลจากฟอร์มและตรวจสิทธิ์ผู้เรียก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9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ตรวจรูปแบบข้อมูลก่อนส่งต่อ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9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เรียกใช้ Model แล้วเลือกว่าจะตอบ View แบบไหน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9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ไม่แตะฐานข้อมูลเอง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861322"/>
            <a:ext cx="2697480" cy="1730502"/>
          </a:xfrm>
          <a:prstGeom prst="roundRect">
            <a:avLst>
              <a:gd name="adj" fmla="val 6340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989338"/>
            <a:ext cx="2404872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336810"/>
            <a:ext cx="2404872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กฎธุรกิจและข้อมูล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665994"/>
            <a:ext cx="2404872" cy="742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9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รวมกฎของธุรกิจไว้ที่เดียว เช่น การคิดราคา การกันที่นั่งซ้ำ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9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เป็นชั้นเดียวที่อ่านและเขียนฐานข้อมูล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9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คืนผลลัพธ์หรือข้อผิดพลาดกลับให้ Controller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43416" y="1861322"/>
            <a:ext cx="2697480" cy="1730502"/>
          </a:xfrm>
          <a:prstGeom prst="roundRect">
            <a:avLst>
              <a:gd name="adj" fmla="val 6340"/>
            </a:avLst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1989338"/>
            <a:ext cx="2404872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2336810"/>
            <a:ext cx="2404872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ที่เก็บข้อมูลถาวร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2665994"/>
            <a:ext cx="2404872" cy="742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9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เก็บผู้ใช้ ภาพยนตร์ รอบฉาย ที่นั่ง การจอง และการชำระเงิน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9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เป็นด่านสุดท้ายที่การันตีว่าที่นั่งหนึ่งที่มีเจ้าของได้คนเดียว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02720"/>
            <a:ext cx="11274552" cy="999744"/>
          </a:xfrm>
          <a:prstGeom prst="roundRect">
            <a:avLst>
              <a:gd name="adj" fmla="val 10975"/>
            </a:avLst>
          </a:prstGeom>
          <a:solidFill>
            <a:srgbClr val="FAFA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994160"/>
            <a:ext cx="10981944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ลำดับการทำงานที่เห็นในทุกสไลด์</a:t>
            </a:r>
          </a:p>
        </p:txBody>
      </p:sp>
      <p:sp>
        <p:nvSpPr>
          <p:cNvPr id="22" name="Oval 21"/>
          <p:cNvSpPr/>
          <p:nvPr/>
        </p:nvSpPr>
        <p:spPr>
          <a:xfrm>
            <a:off x="603504" y="4323344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" y="4323344"/>
            <a:ext cx="1748333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ผู้ใช้กดปุ่มบนหน้าจอ แล้วส่งคำขอไปยัง Controller</a:t>
            </a:r>
          </a:p>
        </p:txBody>
      </p:sp>
      <p:sp>
        <p:nvSpPr>
          <p:cNvPr id="24" name="Oval 23"/>
          <p:cNvSpPr/>
          <p:nvPr/>
        </p:nvSpPr>
        <p:spPr>
          <a:xfrm>
            <a:off x="2799893" y="4323344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19933" y="4323344"/>
            <a:ext cx="1748333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ตรวจสิทธิ์และรูปแบบข้อมูล แล้วส่งต่อให้ Model</a:t>
            </a:r>
          </a:p>
        </p:txBody>
      </p:sp>
      <p:sp>
        <p:nvSpPr>
          <p:cNvPr id="26" name="Oval 25"/>
          <p:cNvSpPr/>
          <p:nvPr/>
        </p:nvSpPr>
        <p:spPr>
          <a:xfrm>
            <a:off x="4996282" y="4323344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6322" y="4323344"/>
            <a:ext cx="1748333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ทำงานกับฐานข้อมูล แล้วคืนผลลัพธ์กลับมา</a:t>
            </a:r>
          </a:p>
        </p:txBody>
      </p:sp>
      <p:sp>
        <p:nvSpPr>
          <p:cNvPr id="28" name="Oval 27"/>
          <p:cNvSpPr/>
          <p:nvPr/>
        </p:nvSpPr>
        <p:spPr>
          <a:xfrm>
            <a:off x="7192670" y="4323344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2710" y="4323344"/>
            <a:ext cx="1748333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เลือก View ที่จะแสดงผล</a:t>
            </a:r>
          </a:p>
        </p:txBody>
      </p:sp>
      <p:sp>
        <p:nvSpPr>
          <p:cNvPr id="30" name="Oval 29"/>
          <p:cNvSpPr/>
          <p:nvPr/>
        </p:nvSpPr>
        <p:spPr>
          <a:xfrm>
            <a:off x="9389059" y="4323344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9099" y="4323344"/>
            <a:ext cx="1748333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แสดงผลให้ผู้ใช้ทันที โดยไม่ต้องโหลดหน้าใหม่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195072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รวมทั้งหมด 59 endpoint — เรียงตามกลุ่ม: สถานะระบบ · บัญชีผู้ใช้ · ภาพยนตร์ · รอบฉาย · การจอง · การชำระเงิน · การแจ้งเตือน · ผู้ดูแลระบบ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สารบัญ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4712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แบ่งตามกลุ่มของ endpoint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81328"/>
            <a:ext cx="5500116" cy="987552"/>
          </a:xfrm>
          <a:prstGeom prst="roundRect">
            <a:avLst>
              <a:gd name="adj" fmla="val 9259"/>
            </a:avLst>
          </a:prstGeom>
          <a:solidFill>
            <a:srgbClr val="FAFA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9344"/>
            <a:ext cx="394563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สถานะระบบ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75104"/>
            <a:ext cx="3945636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ตรวจว่าเซิร์ฟเวอร์ยังทำงานอยู่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94276" y="1609344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7F1D2B"/>
                </a:solidFill>
                <a:latin typeface="Leelawadee UI"/>
                <a:ea typeface="Leelawadee UI"/>
                <a:cs typeface="Leelawadee UI"/>
              </a:rPr>
              <a:t>1 endpoint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4276" y="197510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เริ่มหน้า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15184"/>
            <a:ext cx="5500116" cy="987552"/>
          </a:xfrm>
          <a:prstGeom prst="roundRect">
            <a:avLst>
              <a:gd name="adj" fmla="val 9259"/>
            </a:avLst>
          </a:prstGeom>
          <a:solidFill>
            <a:srgbClr val="FAFA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394563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บัญชีผู้ใช้และเซสชัน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3945636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สมัคร เข้าสู่ระบบ จัดการเซสชัน และกู้รหัสผ่าน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4276" y="2743200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7F1D2B"/>
                </a:solidFill>
                <a:latin typeface="Leelawadee UI"/>
                <a:ea typeface="Leelawadee UI"/>
                <a:cs typeface="Leelawadee UI"/>
              </a:rPr>
              <a:t>10 endpoint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4276" y="31089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เริ่มหน้า 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49040"/>
            <a:ext cx="5500116" cy="987552"/>
          </a:xfrm>
          <a:prstGeom prst="roundRect">
            <a:avLst>
              <a:gd name="adj" fmla="val 9259"/>
            </a:avLst>
          </a:prstGeom>
          <a:solidFill>
            <a:srgbClr val="FAFA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877056"/>
            <a:ext cx="394563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ภาพยนตร์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42816"/>
            <a:ext cx="3945636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รายการและรายละเอียดภาพยนตร์ที่เปิดให้ชม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4276" y="3877056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7F1D2B"/>
                </a:solidFill>
                <a:latin typeface="Leelawadee UI"/>
                <a:ea typeface="Leelawadee UI"/>
                <a:cs typeface="Leelawadee UI"/>
              </a:rPr>
              <a:t>2 endpoint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4276" y="424281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เริ่มหน้า 17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882896"/>
            <a:ext cx="5500116" cy="987552"/>
          </a:xfrm>
          <a:prstGeom prst="roundRect">
            <a:avLst>
              <a:gd name="adj" fmla="val 9259"/>
            </a:avLst>
          </a:prstGeom>
          <a:solidFill>
            <a:srgbClr val="FAFA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010912"/>
            <a:ext cx="394563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รอบฉายและผังที่นั่ง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376672"/>
            <a:ext cx="3945636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รอบฉายตามวัน และผังที่นั่งพร้อมราคาต่อโซน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4276" y="5010912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7F1D2B"/>
                </a:solidFill>
                <a:latin typeface="Leelawadee UI"/>
                <a:ea typeface="Leelawadee UI"/>
                <a:cs typeface="Leelawadee UI"/>
              </a:rPr>
              <a:t>3 endpoint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4276" y="537667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เริ่มหน้า 20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1636" y="1481328"/>
            <a:ext cx="5500116" cy="987552"/>
          </a:xfrm>
          <a:prstGeom prst="roundRect">
            <a:avLst>
              <a:gd name="adj" fmla="val 9259"/>
            </a:avLst>
          </a:prstGeom>
          <a:solidFill>
            <a:srgbClr val="FAFA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4516" y="1609344"/>
            <a:ext cx="394563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การจอง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4516" y="1975104"/>
            <a:ext cx="3945636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จองที่นั่ง ดูรายการจอง ออกตั๋ว และยกเลิก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68712" y="1609344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7F1D2B"/>
                </a:solidFill>
                <a:latin typeface="Leelawadee UI"/>
                <a:ea typeface="Leelawadee UI"/>
                <a:cs typeface="Leelawadee UI"/>
              </a:rPr>
              <a:t>5 endpoint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68712" y="197510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เริ่มหน้า 24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1636" y="2615184"/>
            <a:ext cx="5500116" cy="987552"/>
          </a:xfrm>
          <a:prstGeom prst="roundRect">
            <a:avLst>
              <a:gd name="adj" fmla="val 9259"/>
            </a:avLst>
          </a:prstGeom>
          <a:solidFill>
            <a:srgbClr val="FAFA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4516" y="2743200"/>
            <a:ext cx="394563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การชำระเงิน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4516" y="3108960"/>
            <a:ext cx="3945636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โอนผ่าน PromptPay แล้วส่งสลิปให้ตรวจ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68712" y="2743200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7F1D2B"/>
                </a:solidFill>
                <a:latin typeface="Leelawadee UI"/>
                <a:ea typeface="Leelawadee UI"/>
                <a:cs typeface="Leelawadee UI"/>
              </a:rPr>
              <a:t>4 endpoint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68712" y="31089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เริ่มหน้า 30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1636" y="3749040"/>
            <a:ext cx="5500116" cy="987552"/>
          </a:xfrm>
          <a:prstGeom prst="roundRect">
            <a:avLst>
              <a:gd name="adj" fmla="val 9259"/>
            </a:avLst>
          </a:prstGeom>
          <a:solidFill>
            <a:srgbClr val="FAFA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14516" y="3877056"/>
            <a:ext cx="394563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การแจ้งเตือน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4516" y="4242816"/>
            <a:ext cx="3945636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แจ้งเตือนในระบบ และการทำเครื่องหมายว่าอ่านแล้ว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68712" y="3877056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7F1D2B"/>
                </a:solidFill>
                <a:latin typeface="Leelawadee UI"/>
                <a:ea typeface="Leelawadee UI"/>
                <a:cs typeface="Leelawadee UI"/>
              </a:rPr>
              <a:t>3 endpoint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68712" y="424281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เริ่มหน้า 35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31636" y="4882896"/>
            <a:ext cx="5500116" cy="987552"/>
          </a:xfrm>
          <a:prstGeom prst="roundRect">
            <a:avLst>
              <a:gd name="adj" fmla="val 9259"/>
            </a:avLst>
          </a:prstGeom>
          <a:solidFill>
            <a:srgbClr val="FAFA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4516" y="5010912"/>
            <a:ext cx="394563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4516" y="5376672"/>
            <a:ext cx="3945636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หลังบ้าน: จัดการข้อมูล ตรวจสลิป คืนเงิน และรายงาน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68712" y="5010912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7F1D2B"/>
                </a:solidFill>
                <a:latin typeface="Leelawadee UI"/>
                <a:ea typeface="Leelawadee UI"/>
                <a:cs typeface="Leelawadee UI"/>
              </a:rPr>
              <a:t>31 endpoint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68712" y="537667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เริ่มหน้า 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F1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606040"/>
            <a:ext cx="10058400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E7B9C0"/>
                </a:solidFill>
                <a:latin typeface="Consolas"/>
                <a:ea typeface="Consolas"/>
                <a:cs typeface="Consolas"/>
              </a:rPr>
              <a:t>/api/health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035808"/>
            <a:ext cx="10058400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สถานะระบบ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913632"/>
            <a:ext cx="100584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EBC6CB"/>
                </a:solidFill>
                <a:latin typeface="Leelawadee UI"/>
                <a:ea typeface="Leelawadee UI"/>
                <a:cs typeface="Leelawadee UI"/>
              </a:rPr>
              <a:t>1 endpoint · ตรวจว่าเซิร์ฟเวอร์ยังทำงานอยู่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ตรวจสถานะเซิร์ฟเวอร์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สถานะระบบ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1734312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144170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GET  /api/health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9256" y="841248"/>
            <a:ext cx="9305239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ระบบภายนอกเรียกเช็ก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ตอบทันที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แสดงว่าเซิร์ฟเวอร์ปกติ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เครื่องมือเฝ้าระวัง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(ไม่ต้องเข้าสู่ระบบ)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ปลายทาง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/api/health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รอบการเรียก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ทุก 30 วินาที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55776" y="2843784"/>
            <a:ext cx="944880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55776" y="2843784"/>
            <a:ext cx="94488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ตรวจสอบ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HealthController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(Check Action)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รับคำขอโดยไม่ต้องตรวจสิทธิ์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ตอบกลับทันทีโดยไม่เรียก Model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ส่งชื่อบริการและเวลาปัจจุบันกลับไป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ไม่ใช้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เส้นทางนี้ไม่แตะฐานข้อมูลเลย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จึงใช้แยกได้ว่าปัญหาอยู่ที่ตัวเซิร์ฟเวอร์ หรืออยู่ที่ฐานข้อมูล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ไม่มีการเรียกฐานข้อมูล</a:t>
            </a:r>
          </a:p>
        </p:txBody>
      </p:sp>
      <p:sp>
        <p:nvSpPr>
          <p:cNvPr id="32" name="Can 31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—</a:t>
            </a:r>
          </a:p>
        </p:txBody>
      </p:sp>
      <p:sp>
        <p:nvSpPr>
          <p:cNvPr id="35" name="Oval 34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38" name="Oval 37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ผลการตรวจสอบ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020824" y="4919472"/>
            <a:ext cx="412394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เซิร์ฟเวอร์ทำงานปกติ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สถานะ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ok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ชื่อบริการ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theatre-reservation-api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เวลาของเซิร์ฟเวอร์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2026-09-18 14:20:11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2" name="Oval 61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ระบบเฝ้าระวัง</a:t>
            </a:r>
          </a:p>
        </p:txBody>
      </p:sp>
      <p:cxnSp>
        <p:nvCxnSpPr>
          <p:cNvPr id="65" name="Connector 64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เครื่องมือเฝ้าระวังยิงคำขอเข้ามาเป็นระยะ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รับคำขอโดยไม่ต้องตรวจสิทธิ์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ไม่มีการเรียก Model หรือฐานข้อมูล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ตอบชื่อบริการและเวลาปัจจุบันกลับไป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แสดงว่าเซิร์ฟเวอร์ยังทำงานอยู่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ตอบ ok ไม่ได้แปลว่าฐานข้อมูลปกติด้วย เพราะเส้นทางนี้ไม่ได้แตะฐานข้อมูล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5 / 70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F1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606040"/>
            <a:ext cx="10058400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E7B9C0"/>
                </a:solidFill>
                <a:latin typeface="Consolas"/>
                <a:ea typeface="Consolas"/>
                <a:cs typeface="Consolas"/>
              </a:rPr>
              <a:t>/api/auth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035808"/>
            <a:ext cx="10058400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บัญชีผู้ใช้และเซสชัน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913632"/>
            <a:ext cx="100584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EBC6CB"/>
                </a:solidFill>
                <a:latin typeface="Leelawadee UI"/>
                <a:ea typeface="Leelawadee UI"/>
                <a:cs typeface="Leelawadee UI"/>
              </a:rPr>
              <a:t>10 endpoint · สมัคร เข้าสู่ระบบ จัดการเซสชัน และกู้รหัสผ่าน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สมัครสมาชิก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บัญชีผู้ใช้และเซสชัน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2453640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2161032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POST  /api/auth/register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48584" y="841248"/>
            <a:ext cx="8585911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ผู้ใช้กรอกข้อมูลแล้วกดสมัคร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ตรวจข้อมูล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สร้างบัญชี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เข้าสู่ระบบให้เลย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หน้าสมัครสมาชิก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(หน้าแบบฟอร์ม)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499616"/>
          </a:xfrm>
          <a:prstGeom prst="roundRect">
            <a:avLst>
              <a:gd name="adj" fmla="val 4268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ชื่อ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สมชาย ใจดี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อีเมล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somchai@mail.com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2788920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เบอร์โทร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5336" y="2788920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081-234-5678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3026664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รหัสผ่าน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45336" y="3026664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••••••••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72718" y="3319272"/>
            <a:ext cx="1110996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2718" y="3319272"/>
            <a:ext cx="1110996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สมัครสมาชิก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AuthController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(Register Action)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รับชื่อ อีเมล เบอร์โทร และรหัสผ่านจากฟอร์ม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ตรวจรูปแบบและความยาวของทุกช่อง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จำกัดจำนวนครั้งที่สมัครได้จากไอพีเดียวกัน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เรียกใช้ Model แล้วฝากเซสชันไว้ในคุกกี้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AuthModel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ตรวจว่าเป็นเบอร์มือถือไทย 10 หลัก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ตรวจว่าอีเมลและเบอร์ยังไม่ถูกใช้สมัคร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เก็บรหัสผ่านเป็นค่าที่เข้ารหัสแล้ว ไม่เก็บตัวจริง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สร้างบัญชีพร้อมเปิดเซสชันให้ทันที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เพิ่มผู้ใช้ใหม่ (INSERT)</a:t>
            </a:r>
          </a:p>
        </p:txBody>
      </p:sp>
      <p:sp>
        <p:nvSpPr>
          <p:cNvPr id="36" name="Can 35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บัญชีที่สร้าง + เซสชันใหม่</a:t>
            </a:r>
          </a:p>
        </p:txBody>
      </p:sp>
      <p:sp>
        <p:nvSpPr>
          <p:cNvPr id="39" name="Oval 38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42" name="Oval 41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6" name="Connector 45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หน้าหลังสมัครสำเร็จ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020824" y="4919472"/>
            <a:ext cx="412394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สมัครสมาชิกสำเร็จ และเข้าสู่ระบบให้แล้ว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ชื่อผู้ใช้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สมชาย ใจดี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บทบาท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ผู้ใช้ทั่วไป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สถานะ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เข้าสู่ระบบแล้ว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6" name="Oval 65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ผู้เยี่ยมชม</a:t>
            </a:r>
          </a:p>
        </p:txBody>
      </p:sp>
      <p:cxnSp>
        <p:nvCxnSpPr>
          <p:cNvPr id="69" name="Connector 68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ผู้ใช้กรอกข้อมูลบนหน้าสมัครแล้วกดปุ่ม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ตรวจรูปแบบข้อมูลและจำกัดการสมัครถี่เกินไป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ตรวจข้อมูลซ้ำ เข้ารหัสรหัสผ่าน แล้วสร้างบัญชี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ระบบเปิดเซสชันให้ทันทีโดยไม่ต้องล็อกอินซ้ำ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พากลับไปทำสิ่งที่ค้างอยู่ เช่น จองที่นั่งต่อ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สมัครแล้วเข้าสู่ระบบให้เลย เพื่อให้คนที่กำลังจองที่นั่งกลับไปจองต่อได้โดยไม่ต้องกรอกซ้ำ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7 / 70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เข้าสู่ระบบ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บัญชีผู้ใช้และเซสชัน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2183892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18912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POST  /api/auth/login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78836" y="841248"/>
            <a:ext cx="8855659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ผู้ใช้กรอกรหัสผ่าน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ตรวจจำนวนครั้ง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เทียบรหัสผ่าน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เข้าสู่ระบบ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หน้าเข้าสู่ระบบ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(หน้าแบบฟอร์ม)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อีเมลหรือเบอร์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somchai@mail.com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รหัสผ่าน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••••••••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44382" y="2843784"/>
            <a:ext cx="967669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4382" y="2843784"/>
            <a:ext cx="967669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เข้าสู่ระบบ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AuthController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(Login Action)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รับช่องระบุตัวตนช่องเดียว ใส่อีเมลหรือเบอร์ก็ได้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นับครั้งที่ล็อกอินผิด แยกตามไอพีและบัญชีที่พยายามเข้า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เรียกใช้ Model เพื่อตรวจรหัสผ่าน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ฝากเซสชันไว้ในคุกกี้แล้วส่งข้อมูลผู้ใช้กลับไป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AuthModel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ดูจากเครื่องหมาย @ ว่าที่กรอกมาเป็นอีเมลหรือเบอร์โทร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เทียบรหัสผ่านกับค่าที่เข้ารหัสไว้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เทียบรหัสผ่านทุกครั้งแม้ไม่พบบัญชี เวลาตอบจะได้ใกล้เคียงกัน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ไม่พบบัญชีหรือรหัสผิด ตอบข้อความเดียวกัน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ค้นบัญชีและบันทึกเซสชัน (SELECT + INSERT)</a:t>
            </a:r>
          </a:p>
        </p:txBody>
      </p:sp>
      <p:sp>
        <p:nvSpPr>
          <p:cNvPr id="32" name="Can 31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ข้อมูลผู้ใช้ + เซสชันใหม่</a:t>
            </a:r>
          </a:p>
        </p:txBody>
      </p:sp>
      <p:sp>
        <p:nvSpPr>
          <p:cNvPr id="35" name="Oval 34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38" name="Oval 37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หน้าหลังเข้าสู่ระบบ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020824" y="4919472"/>
            <a:ext cx="412394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เข้าสู่ระบบสำเร็จ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ชื่อผู้ใช้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สมชาย ใจดี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บทบาท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ผู้ใช้ทั่วไป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อายุเซสชัน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ต่ออายุอัตโนมัติ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2" name="Oval 61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ผู้เยี่ยมชม</a:t>
            </a:r>
          </a:p>
        </p:txBody>
      </p:sp>
      <p:cxnSp>
        <p:nvCxnSpPr>
          <p:cNvPr id="65" name="Connector 64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ผู้ใช้กรอกอีเมลหรือเบอร์ พร้อมรหัสผ่าน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นับครั้งที่ผิด เพื่อกันการยิงเดารหัสผ่าน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เทียบรหัสผ่านกับค่าที่เข้ารหัสเก็บไว้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ผ่านแล้วระบบเปิดเซสชันและฝากคุกกี้ให้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พาเข้าหน้าที่ผู้ใช้กำลังจะไปก่อนถูกขอให้ล็อกอิน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ระบบไม่บอกว่าผิดที่บัญชีหรือรหัสผ่าน เพื่อไม่ให้ใช้หน้านี้ไล่เช็กว่าอีเมลไหนมีบัญชีในระบบ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8 / 70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ขอลิงก์ตั้งรหัสผ่านใหม่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บัญชีผู้ใช้และเซสชัน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3083052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279044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POST  /api/auth/forgot-password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77996" y="841248"/>
            <a:ext cx="7956499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ผู้ใช้กรอกอีเมล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จำกัดความถี่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ออกลิงก์และส่งเมล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แจ้งให้ไปเปิดเมล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หน้าลืมรหัสผ่าน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(หน้าแบบฟอร์ม)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อีเมล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somchai@mail.com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ภาษาของเมล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ไทย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7958" y="2843784"/>
            <a:ext cx="1080516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7958" y="2843784"/>
            <a:ext cx="1080516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ส่งลิงก์ให้ฉัน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AuthController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(Forgot Password Action)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รับอีเมลและภาษาที่ผู้ใช้กำลังเปิดหน้าเว็บอยู่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จำกัดความถี่ตามไอพีและอีเมลที่ขอ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เรียกใช้ Model แล้วตอบผลเดียวกันเสมอ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PasswordResetModel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ถ้าไม่พบอีเมลนี้ ก็ไม่ทำอะไรแต่ตอบเหมือนกรณีพบ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สร้างรหัสลิงก์แบบสุ่มที่เดาไม่ได้ อายุ 30 นาที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ลบลิงก์เก่าของบัญชีนั้นทิ้ง เหลือฉบับล่าสุดฉบับเดียว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ส่งอีเมลที่มีลิงก์ไปให้เจ้าของบัญชี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ออกรหัสลิงก์ใหม่ (DELETE + INSERT)</a:t>
            </a:r>
          </a:p>
        </p:txBody>
      </p:sp>
      <p:sp>
        <p:nvSpPr>
          <p:cNvPr id="32" name="Can 31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ยืนยันว่าบันทึกแล้ว</a:t>
            </a:r>
          </a:p>
        </p:txBody>
      </p:sp>
      <p:sp>
        <p:nvSpPr>
          <p:cNvPr id="35" name="Oval 34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38" name="Oval 37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หน้ายืนยันการส่งลิงก์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020824" y="4919472"/>
            <a:ext cx="412394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ส่งลิงก์ให้แล้ว กรุณาตรวจกล่องจดหมาย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ปลายทาง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อีเมลที่กรอกไว้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อายุลิงก์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30 นาที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ทำอย่างไรต่อ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เปิดเมลแล้วกดลิงก์ในนั้น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2" name="Oval 61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ผู้เยี่ยมชม</a:t>
            </a:r>
          </a:p>
        </p:txBody>
      </p:sp>
      <p:cxnSp>
        <p:nvCxnSpPr>
          <p:cNvPr id="65" name="Connector 64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ผู้ใช้กรอกอีเมลที่ใช้สมัครแล้วกดขอลิงก์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จำกัดความถี่ กันการยิงถล่มเมลคนอื่น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ออกรหัสลิงก์สุ่มอายุ 30 นาที และลบฉบับเก่าทิ้ง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ระบบส่งอีเมลที่มีลิงก์ไปให้เจ้าของบัญชี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แจ้งข้อความเดียวกันเสมอ ไม่ว่าอีเมลนั้นจะมีบัญชีหรือไม่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ตอบเหมือนกันทุกกรณีโดยตั้งใจ ไม่งั้นหน้านี้จะกลายเป็นเครื่องมือไล่เช็กว่าอีเมลไหนเป็นลูกค้า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9 / 70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ตรวจลิงก์ก่อนแสดงฟอร์ม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บัญชีผู้ใช้และเซสชัน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3532632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324002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POST  /api/auth/reset-password/check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27576" y="841248"/>
            <a:ext cx="7506919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ผู้ใช้กดลิงก์ในเมล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ส่งรหัสลิงก์ไปตรวจ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ตรวจอายุลิงก์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เปิดฟอร์มให้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หน้าตั้งรหัสผ่านใหม่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(เปิดจากลิงก์ในอีเมล)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รหัสลิงก์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แนบมากับลิงก์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สถานะ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กำลังตรวจสอบ...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AuthController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(Check Reset Link Action)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รับรหัสลิงก์มาทางเนื้อหาคำขอ ไม่ใช่ทาง URL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จำกัดความถี่ของการยิงเข้ามาที่เส้นทางนี้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เรียกใช้ Model แล้วส่งผลการตรวจกลับไป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PasswordResetModel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ค้นลิงก์จากค่าที่เข้ารหัสไว้ ไม่ได้เก็บรหัสลิงก์ตรง ๆ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ลิงก์ที่ถูกใช้ไปแล้วหรือไม่มีจริง ตอบข้อความเดียวกัน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ลิงก์หมดอายุแยกเป็นอีกข้อความ เพราะผู้ใช้ขอใหม่เองได้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คืนอีเมลแบบปิดบางส่วน ให้ผู้ใช้ยืนยันว่าเป็นบัญชีตัวเอง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ค้นรหัสลิงก์ (SELECT)</a:t>
            </a:r>
          </a:p>
        </p:txBody>
      </p:sp>
      <p:sp>
        <p:nvSpPr>
          <p:cNvPr id="30" name="Can 29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ลิงก์ใช้ได้หรือไม่ + อีเมลที่ปิดบางส่วน</a:t>
            </a:r>
          </a:p>
        </p:txBody>
      </p:sp>
      <p:sp>
        <p:nvSpPr>
          <p:cNvPr id="33" name="Oval 32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36" name="Oval 35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หน้าฟอร์มตั้งรหัสผ่านใหม่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020824" y="4919472"/>
            <a:ext cx="412394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ลิงก์ใช้งานได้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บัญชี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so*****@mail.com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ลิงก์หมดอายุ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อีก 24 นาที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ถัดไป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กรอกรหัสผ่านใหม่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0" name="Oval 59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ผู้เยี่ยมชม</a:t>
            </a:r>
          </a:p>
        </p:txBody>
      </p:sp>
      <p:cxnSp>
        <p:nvCxnSpPr>
          <p:cNvPr id="63" name="Connector 62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ผู้ใช้กดลิงก์ในอีเมล หน้าเว็บส่งรหัสลิงก์มาตรวจก่อน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ส่งต่อให้ Model โดยไม่ต้องล็อกอิน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ตรวจว่าลิงก์มีจริง ยังไม่ถูกใช้ และยังไม่หมดอายุ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คืนอีเมลแบบปิดบางส่วนมาให้ยืนยันว่าเป็นบัญชีตัวเอง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จึงค่อยแสดงฟอร์มตั้งรหัสผ่านใหม่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ตรวจก่อนแสดงฟอร์ม ผู้ใช้จะได้ไม่ตั้งรหัสใหม่จนเสร็จแล้วค่อยมารู้ว่าลิงก์หมดอายุไปแล้ว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10 / 70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ตั้งรหัสผ่านใหม่จากลิงก์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บัญชีผู้ใช้และเซสชัน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2993136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2700528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POST  /api/auth/reset-password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88080" y="841248"/>
            <a:ext cx="8046415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ผู้ใช้ตั้งรหัสใหม่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ตรวจความแข็งแรง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เปลี่ยนรหัสและล้างเซสชัน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พาไปล็อกอิน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หน้าตั้งรหัสผ่านใหม่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(หน้าแบบฟอร์ม)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บัญชี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so*****@mail.com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รหัสผ่านใหม่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••••••••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2788920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ยืนยันรหัสผ่าน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5336" y="2788920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••••••••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3272" y="3081528"/>
            <a:ext cx="1389888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2" y="3081528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บันทึกรหัสผ่านใหม่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AuthController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(Reset Password Action)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รับรหัสลิงก์และรหัสผ่านใหม่จากฟอร์ม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ตรวจว่ารหัสผ่านใหม่ผ่านเกณฑ์ความแข็งแรง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เรียกใช้ Model แล้วไม่ล็อกอินให้อัตโนมัติ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PasswordResetModel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ตรวจลิงก์อีกครั้งก่อนเปลี่ยนรหัสจริง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บันทึกรหัสผ่านใหม่ในรูปที่เข้ารหัสแล้ว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ปิดลิงก์ทุกใบของบัญชีนั้นไม่ให้ใช้ซ้ำ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เพิกถอนเซสชันของบัญชีนั้นทุกเครื่อง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เปลี่ยนรหัสผ่านและปิดเซสชัน (UPDATE)</a:t>
            </a:r>
          </a:p>
        </p:txBody>
      </p:sp>
      <p:sp>
        <p:nvSpPr>
          <p:cNvPr id="34" name="Can 33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ยืนยันผล + อีเมลของบัญชี</a:t>
            </a:r>
          </a:p>
        </p:txBody>
      </p:sp>
      <p:sp>
        <p:nvSpPr>
          <p:cNvPr id="37" name="Oval 36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40" name="Oval 39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หน้าเข้าสู่ระบบ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020824" y="4919472"/>
            <a:ext cx="412394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ตั้งรหัสผ่านใหม่เรียบร้อย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อีเมล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somchai@mail.com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รหัสผ่าน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กรอกรหัสที่เพิ่งตั้ง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อุปกรณ์อื่น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ถูกออกจากระบบทั้งหมด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4" name="Oval 63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ผู้เยี่ยมชม</a:t>
            </a:r>
          </a:p>
        </p:txBody>
      </p:sp>
      <p:cxnSp>
        <p:nvCxnSpPr>
          <p:cNvPr id="67" name="Connector 66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ผู้ใช้กรอกรหัสผ่านใหม่แล้วกดบันทึก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ตรวจความแข็งแรงของรหัสผ่านก่อนส่งต่อ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ตรวจลิงก์อีกครั้ง แล้วเปลี่ยนรหัสผ่าน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ลิงก์ถูกปิดและทุกเซสชันของบัญชีถูกเพิกถอน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พาไปหน้าล็อกอินพร้อมเติมอีเมลไว้ให้แล้ว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ไม่ล็อกอินให้อัตโนมัติ ผู้ใช้จะได้รู้ตั้งแต่ตอนนี้ว่าจำรหัสที่เพิ่งตั้งได้จริง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11 / 70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ต่ออายุเซสชัน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บัญชีผู้ใช้และเซสชัน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2363724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2071116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POST  /api/auth/refresh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58668" y="841248"/>
            <a:ext cx="8675827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หน้าเว็บพบว่าโทเคนหมดอายุ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อ่านคุกกี้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ออกใบใหม่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ทำงานต่อได้เลย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หน้าใดก็ได้ที่กำลังใช้งาน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(ระบบเรียกเองอัตโนมัติ)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ตัวกระตุ้น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คำขอก่อนหน้าได้ 401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ใบเซสชัน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อยู่ในคุกกี้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AuthController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(Refresh Action)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อ่านใบเซสชันจากคุกกี้ ไม่ใช่จากเนื้อหาคำขอ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เรียกใช้ Model เพื่อออกใบใหม่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เขียนคุกกี้ใบใหม่ทับใบเดิม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ส่งโทเคนใช้งานชุดใหม่กลับไปให้หน้าเว็บ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SessionModel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ออกใบใหม่แล้วยกเลิกใบเก่าทันที (หมุนเวียนใบ)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ถ้ามีคนเอาใบที่ยกเลิกแล้วมาใช้ซ้ำ ถือว่าใบถูกขโมย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กรณีนั้นจะเพิกถอนทุกเซสชันของบัญชีนั้นทิ้ง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ใบที่หมดอายุแล้วใช้ต่อไม่ได้ ต้องเข้าสู่ระบบใหม่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ออกใบใหม่และยกเลิกใบเก่า (INSERT + UPDATE)</a:t>
            </a:r>
          </a:p>
        </p:txBody>
      </p:sp>
      <p:sp>
        <p:nvSpPr>
          <p:cNvPr id="30" name="Can 29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เซสชันใหม่ + ข้อมูลผู้ใช้</a:t>
            </a:r>
          </a:p>
        </p:txBody>
      </p:sp>
      <p:sp>
        <p:nvSpPr>
          <p:cNvPr id="33" name="Oval 32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36" name="Oval 35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หน้าเดิมที่ใช้งานค้างอยู่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020824" y="4919472"/>
            <a:ext cx="412394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ต่ออายุเซสชันแล้ว ทำงานต่อได้ทันที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โทเคนใช้งาน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ชุดใหม่ อายุ 15 นาที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ใบเซสชันเดิม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ถูกยกเลิกแล้ว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ผู้ใช้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ไม่เห็นอะไรเปลี่ยน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0" name="Oval 59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ผู้ใช้</a:t>
            </a:r>
          </a:p>
        </p:txBody>
      </p:sp>
      <p:cxnSp>
        <p:nvCxnSpPr>
          <p:cNvPr id="63" name="Connector 62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หน้าเว็บพบว่าโทเคนใช้งานหมดอายุ จึงขอต่ออายุเงียบ ๆ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อ่านใบเซสชันจากคุกกี้แล้วส่งให้ Model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ออกใบใหม่และยกเลิกใบเก่าในคราวเดียวกัน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ระบบเขียนคุกกี้ใบใหม่ทับ แล้วส่งโทเคนชุดใหม่กลับไป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ยิงคำขอเดิมซ้ำให้อัตโนมัติ ผู้ใช้ไม่รู้สึกว่าสะดุด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ใบเซสชันหมุนเวียนทุกครั้ง ถ้าใบเก่าถูกนำมาใช้ซ้ำ ระบบถือว่าถูกขโมยและไล่ออกทุกอุปกรณ์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12 / 70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ออกจากระบบ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บัญชีผู้ใช้และเซสชัน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2273808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1981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POST  /api/auth/logout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68752" y="841248"/>
            <a:ext cx="8765743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ผู้ใช้กดออกจากระบบ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อ่านคุกกี้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ยกเลิกเซสชัน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กลับหน้าแรก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เมนูผู้ใช้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(ปุ่มบนแถบด้านบน)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บัญชีปัจจุบัน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สมชาย ใจดี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อุปกรณ์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เครื่องที่ใช้อยู่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1194" y="2843784"/>
            <a:ext cx="1114044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1194" y="2843784"/>
            <a:ext cx="11140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ออกจากระบบ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AuthController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(Logout Action)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อ่านใบเซสชันจากคุกกี้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เรียกใช้ Model ให้ยกเลิกใบนั้น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ลบคุกกี้ออกจากเบราว์เซอร์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ตอบสำเร็จเสมอ แม้ไม่มีใบเซสชันติดมา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SessionModel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ทำเครื่องหมายว่าใบเซสชันนี้ถูกยกเลิกแล้ว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ยกเลิกเฉพาะใบของเครื่องนี้ ไม่กระทบเครื่องอื่น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ใบที่ยกเลิกแล้วนำมาต่ออายุอีกไม่ได้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ยกเลิกใบเซสชัน (UPDATE)</a:t>
            </a:r>
          </a:p>
        </p:txBody>
      </p:sp>
      <p:sp>
        <p:nvSpPr>
          <p:cNvPr id="32" name="Can 31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ยืนยันผล</a:t>
            </a:r>
          </a:p>
        </p:txBody>
      </p:sp>
      <p:sp>
        <p:nvSpPr>
          <p:cNvPr id="35" name="Oval 34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38" name="Oval 37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หน้าแรกในสถานะยังไม่ล็อกอิน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020824" y="4919472"/>
            <a:ext cx="412394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ออกจากระบบแล้ว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เซสชันเครื่องนี้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ถูกยกเลิก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คุกกี้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ถูกลบแล้ว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เครื่องอื่น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ยังใช้งานได้ตามเดิม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2" name="Oval 61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ผู้ใช้</a:t>
            </a:r>
          </a:p>
        </p:txBody>
      </p:sp>
      <p:cxnSp>
        <p:nvCxnSpPr>
          <p:cNvPr id="65" name="Connector 64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ผู้ใช้กดออกจากระบบจากเมนูบนแถบด้านบน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อ่านใบเซสชันจากคุกกี้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ทำเครื่องหมายยกเลิกเฉพาะใบของเครื่องนี้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ระบบลบคุกกี้ออกจากเบราว์เซอร์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กลับไปหน้าแรกในสถานะยังไม่เข้าสู่ระบบ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ตอบสำเร็จเสมอแม้ไม่มีเซสชันติดมา เพื่อให้หน้าเว็บกลับสู่สถานะออกจากระบบได้เสมอ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13 / 70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ดูข้อมูลบัญชีของตัวเอง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บัญชีผู้ใช้และเซสชัน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1824228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153162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GET  /api/auth/me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9172" y="841248"/>
            <a:ext cx="9215323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หน้าเว็บโหลดขึ้นมา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ตรวจโทเคน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ได้ข้อมูลผู้ใช้จากโทเคน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แสดงชื่อบนแถบเมนู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ทุกหน้าที่ต้องรู้ว่าใครใช้อยู่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(ระบบเรียกเองตอนเปิดเว็บ)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โทเคนใช้งาน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แนบมากับคำขอ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จุดที่ใช้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แถบเมนูด้านบน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AuthController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(Me Action)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ด่านตรวจสิทธิ์ถอดข้อมูลผู้ใช้จากโทเคนไว้ให้แล้ว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ไม่มีโทเคนหรือโทเคนหมดอายุ จะตอบว่าไม่มีสิทธิ์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ส่งข้อมูลผู้ใช้กลับไปตรง 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ไม่ต้องเรียก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ชื่อ อีเมล และบทบาท ถูกฝังอยู่ในโทเคนแล้ว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จึงตอบได้โดยไม่ต้องอ่านฐานข้อมูลซ้ำ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เป็นเส้นทางที่ถูกเรียกบ่อยมาก จึงออกแบบให้เบาที่สุด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ไม่ต้องอ่านฐานข้อมูล</a:t>
            </a:r>
          </a:p>
        </p:txBody>
      </p:sp>
      <p:sp>
        <p:nvSpPr>
          <p:cNvPr id="30" name="Can 29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ข้อมูลผู้ใช้จากโทเคน</a:t>
            </a:r>
          </a:p>
        </p:txBody>
      </p:sp>
      <p:sp>
        <p:nvSpPr>
          <p:cNvPr id="33" name="Oval 32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36" name="Oval 35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แถบเมนูด้านบน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020824" y="4919472"/>
            <a:ext cx="412394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ยืนยันตัวตนแล้ว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ชื่อ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สมชาย ใจดี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อีเมล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somchai@mail.com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บทบาท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ผู้ใช้ทั่วไป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0" name="Oval 59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ผู้ใช้</a:t>
            </a:r>
          </a:p>
        </p:txBody>
      </p:sp>
      <p:cxnSp>
        <p:nvCxnSpPr>
          <p:cNvPr id="63" name="Connector 62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86016" y="4681728"/>
            <a:ext cx="4599432" cy="11948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หน้าเว็บเปิดขึ้นมาแล้วถามว่าตอนนี้ใครล็อกอินอยู่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ด่านตรวจสิทธิ์ตรวจโทเคนและถอดข้อมูลผู้ใช้ออกมา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ส่งข้อมูลนั้นกลับไปโดยไม่เรียก Model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ไม่มีการอ่านฐานข้อมูลเลยในเส้นทางนี้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แสดงชื่อผู้ใช้และเมนูตามบทบาททันที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986016" y="5876544"/>
            <a:ext cx="4599432" cy="432816"/>
          </a:xfrm>
          <a:prstGeom prst="roundRect">
            <a:avLst>
              <a:gd name="adj" fmla="val 12676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068312" y="5931408"/>
            <a:ext cx="4434840" cy="323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ถ้าผู้ดูแลเปลี่ยนบทบาทของบัญชีนี้ จะเห็นผลหลังต่ออายุเซสชันรอบถัดไป เพราะบทบาทอยู่ในโทเคน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14 / 70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แก้ไขข้อมูลโปรไฟล์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บัญชีผู้ใช้และเซสชัน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2004060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1711452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B45309"/>
                </a:solidFill>
                <a:latin typeface="Consolas"/>
                <a:ea typeface="Consolas"/>
                <a:cs typeface="Consolas"/>
              </a:rPr>
              <a:t>PATCH  /api/auth/me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9004" y="841248"/>
            <a:ext cx="9035491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ผู้ใช้แก้ชื่อหรืออีเมล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ตรวจรูปแบบ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บันทึกและกันข้อมูลซ้ำ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แสดงค่าใหม่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หน้าโปรไฟล์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(หน้าแบบฟอร์ม)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ชื่อที่ใช้แสดง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สมชาย ใจดี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อีเมล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somchai@mail.com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13282" y="2843784"/>
            <a:ext cx="1229868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3282" y="2843784"/>
            <a:ext cx="122986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บันทึกการแก้ไข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AuthController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(Update Profile Action)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ต้องเข้าสู่ระบบก่อน และแก้ได้เฉพาะบัญชีตัวเอง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รับเฉพาะช่องที่มีการแก้ไขจริง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ตรวจรูปแบบอีเมลและความยาวของชื่อ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เรียกใช้ Model แล้วส่งข้อมูลใหม่กลับไป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UserModel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ปรับอีเมลเป็นตัวพิมพ์เล็กก่อนบันทึกเสมอ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ถ้าอีเมลใหม่ซ้ำกับบัญชีอื่น จะบอกว่าซ้ำที่ช่องไหน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แก้ได้เฉพาะชื่อและอีเมล เบอร์โทรต้องให้ผู้ดูแลแก้ให้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ปรับข้อมูลบัญชี (UPDATE)</a:t>
            </a:r>
          </a:p>
        </p:txBody>
      </p:sp>
      <p:sp>
        <p:nvSpPr>
          <p:cNvPr id="32" name="Can 31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ข้อมูลผู้ใช้หลังแก้ไข</a:t>
            </a:r>
          </a:p>
        </p:txBody>
      </p:sp>
      <p:sp>
        <p:nvSpPr>
          <p:cNvPr id="35" name="Oval 34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38" name="Oval 37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หน้าโปรไฟล์หลังบันทึก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020824" y="4919472"/>
            <a:ext cx="412394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บันทึกข้อมูลเรียบร้อย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ชื่อที่ใช้แสดง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สมชาย ใจดีมาก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อีเมล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somchai.new@mail.com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ผลทันที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ชื่อบนแถบเมนูเปลี่ยนตาม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2" name="Oval 61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ผู้ใช้</a:t>
            </a:r>
          </a:p>
        </p:txBody>
      </p:sp>
      <p:cxnSp>
        <p:nvCxnSpPr>
          <p:cNvPr id="65" name="Connector 64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ผู้ใช้แก้ชื่อหรืออีเมลบนหน้าโปรไฟล์แล้วกดบันทึก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ตรวจว่าเข้าสู่ระบบแล้วและข้อมูลถูกรูปแบบ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ปรับอีเมลเป็นตัวพิมพ์เล็กแล้วบันทึกลงฐานข้อมูล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ถ้าอีเมลซ้ำกับบัญชีอื่น ระบบจะบอกว่าซ้ำที่ช่องไหน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แสดงข้อมูลใหม่และอัปเดตชื่อบนแถบเมนูทันที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เบอร์โทรแก้เองไม่ได้ เพราะใช้ล็อกอินได้ด้วย ต้องให้ผู้ดูแลระบบเป็นคนแก้ให้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15 / 70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เปลี่ยนรหัสผ่านของตัวเอง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บัญชีผู้ใช้และเซสชัน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2543556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2250948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B45309"/>
                </a:solidFill>
                <a:latin typeface="Consolas"/>
                <a:ea typeface="Consolas"/>
                <a:cs typeface="Consolas"/>
              </a:rPr>
              <a:t>PATCH  /api/auth/password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38500" y="841248"/>
            <a:ext cx="8495995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ผู้ใช้กรอกรหัสเดิมและรหัสใหม่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จำกัดการเดา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เปลี่ยนรหัส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แจ้งผล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หน้าเปลี่ยนรหัสผ่าน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(หน้าแบบฟอร์ม)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รหัสผ่านปัจจุบัน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••••••••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รหัสผ่านใหม่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••••••••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2788920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ยืนยันรหัสผ่านใหม่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5336" y="2788920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••••••••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20914" y="3081528"/>
            <a:ext cx="1214604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20914" y="3081528"/>
            <a:ext cx="121460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เปลี่ยนรหัสผ่าน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AuthController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(Change Password Action)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ต้องเข้าสู่ระบบก่อนจึงจะเรียกได้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จำกัดจำนวนครั้งที่กรอกรหัสเดิมผิด นับรายบัญชี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ส่งใบเซสชันของเครื่องนี้ไปด้วย เพื่อคงสถานะล็อกอินไว้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เรียกใช้ Model แล้วแจ้งผลกลับไป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AuthModel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ต้องยืนยันรหัสผ่านเดิมให้ถูกก่อนจึงจะเปลี่ยนได้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บันทึกรหัสผ่านใหม่ในรูปที่เข้ารหัสแล้ว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เพิกถอนเซสชันเครื่องอื่นทั้งหมด เหลือเครื่องที่ใช้อยู่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เปลี่ยนรหัสผ่านและปิดเซสชันอื่น (UPDATE)</a:t>
            </a:r>
          </a:p>
        </p:txBody>
      </p:sp>
      <p:sp>
        <p:nvSpPr>
          <p:cNvPr id="34" name="Can 33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ยืนยันผล</a:t>
            </a:r>
          </a:p>
        </p:txBody>
      </p:sp>
      <p:sp>
        <p:nvSpPr>
          <p:cNvPr id="37" name="Oval 36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40" name="Oval 39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หน้าโปรไฟล์หลังเปลี่ยนรหัส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020824" y="4919472"/>
            <a:ext cx="412394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เปลี่ยนรหัสผ่านเรียบร้อย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เครื่องที่ใช้อยู่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ยังล็อกอินอยู่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อุปกรณ์อื่น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ถูกออกจากระบบทั้งหมด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ครั้งต่อไป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ใช้รหัสผ่านใหม่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4" name="Oval 63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ผู้ใช้</a:t>
            </a:r>
          </a:p>
        </p:txBody>
      </p:sp>
      <p:cxnSp>
        <p:nvCxnSpPr>
          <p:cNvPr id="67" name="Connector 66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86016" y="4681728"/>
            <a:ext cx="4599432" cy="11948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ผู้ใช้กรอกรหัสผ่านเดิมและรหัสผ่านใหม่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จำกัดจำนวนครั้งที่กรอกรหัสเดิมผิด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ยืนยันรหัสเดิมก่อน แล้วจึงบันทึกรหัสใหม่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ระบบไล่เซสชันเครื่องอื่นออก เหลือเครื่องที่กำลังใช้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แจ้งผลสำเร็จโดยไม่เด้งผู้ใช้ออกจากระบบ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986016" y="5876544"/>
            <a:ext cx="4599432" cy="432816"/>
          </a:xfrm>
          <a:prstGeom prst="roundRect">
            <a:avLst>
              <a:gd name="adj" fmla="val 12676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68312" y="5931408"/>
            <a:ext cx="4434840" cy="323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ต้องยืนยันรหัสเดิมก่อนเสมอ ถ้ามีคนขโมยเซสชันไปได้ จะได้ยึดบัญชีทั้งใบด้วยการเปลี่ยนรหัสไม่ได้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16 / 70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F1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606040"/>
            <a:ext cx="10058400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E7B9C0"/>
                </a:solidFill>
                <a:latin typeface="Consolas"/>
                <a:ea typeface="Consolas"/>
                <a:cs typeface="Consolas"/>
              </a:rPr>
              <a:t>/api/movies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035808"/>
            <a:ext cx="10058400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ภาพยนตร์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913632"/>
            <a:ext cx="100584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EBC6CB"/>
                </a:solidFill>
                <a:latin typeface="Leelawadee UI"/>
                <a:ea typeface="Leelawadee UI"/>
                <a:cs typeface="Leelawadee UI"/>
              </a:rPr>
              <a:t>2 endpoint · รายการและรายละเอียดภาพยนตร์ที่เปิดให้ชม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รายการภาพยนตร์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ภาพยนตร์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1734312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144170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GET  /api/movies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9256" y="841248"/>
            <a:ext cx="9305239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ผู้ชมเปิดหน้าแรกหรือค้นหา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ตรวจตัวกรอง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ค้นฐานข้อมูล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แสดงการ์ดหนัง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หน้าแรก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(ไม่ต้องเข้าสู่ระบบ)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สถานะ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กำลังฉาย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คำค้น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อวตาร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38834" y="2843784"/>
            <a:ext cx="778764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38834" y="2843784"/>
            <a:ext cx="77876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ค้นหา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MovieController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(Index Action)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รับตัวกรองสถานะและคำค้นจากแถบค้นหา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ตรวจว่าสถานะที่ส่งมาเป็นค่าที่ระบบรู้จัก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เรียกใช้ Model แล้วส่งรายการกลับไป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MovieModel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ซ่อนเรื่องที่เก็บเข้าคลังไว้ ไม่ให้ผู้ชมทั่วไปเห็น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ค้นคำค้นทั้งชื่อไทยและชื่ออังกฤษ ไม่สนตัวพิมพ์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เรียงตามสถานะ แล้วเรียงเรื่องใหม่ขึ้นก่อน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ค้นรายการภาพยนตร์ (SELECT)</a:t>
            </a:r>
          </a:p>
        </p:txBody>
      </p:sp>
      <p:sp>
        <p:nvSpPr>
          <p:cNvPr id="32" name="Can 31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รายการภาพยนตร์ที่ตรงเงื่อนไข</a:t>
            </a:r>
          </a:p>
        </p:txBody>
      </p:sp>
      <p:sp>
        <p:nvSpPr>
          <p:cNvPr id="35" name="Oval 34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38" name="Oval 37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หน้าแรกพร้อมการ์ดหนัง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020824" y="4919472"/>
            <a:ext cx="412394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พบภาพยนตร์ 12 เรื่อง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กำลังฉาย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8 เรื่อง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เร็ว ๆ นี้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4 เรื่อง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การ์ดโปสเตอร์เรียงเป็นตาราง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2" name="Oval 61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ผู้เยี่ยมชม</a:t>
            </a:r>
          </a:p>
        </p:txBody>
      </p:sp>
      <p:cxnSp>
        <p:nvCxnSpPr>
          <p:cNvPr id="65" name="Connector 64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ผู้ชมเปิดหน้าแรกหรือพิมพ์คำค้น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ตรวจว่าตัวกรองที่ส่งมาถูกต้อง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ค้นฐานข้อมูล โดยซ่อนเรื่องที่เก็บเข้าคลัง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คืนรายการที่เรียงตามสถานะและวันที่ฉาย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แสดงเป็นการ์ดโปสเตอร์ให้กดเข้าไปดูรายละเอียด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เส้นทางนี้เปิดให้ทุกคนเรียกได้โดยไม่ต้องเข้าสู่ระบบ เพราะเป็นข้อมูลที่ตั้งใจให้สาธารณะเห็น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18 / 70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รายละเอียดภาพยนตร์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ภาพยนตร์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2093976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1801368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GET  /api/movies/:id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841248"/>
            <a:ext cx="8945575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ผู้ชมกดการ์ดหนัง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ส่งรหัสเรื่อง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อ่านข้อมูลและวันที่มีรอบ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แสดงหน้ารายละเอียด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การ์ดหนังบนหน้าแรก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(ไม่ต้องเข้าสู่ระบบ)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เรื่องที่เลือก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อวตาร ภาค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การกระทำ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กดที่การ์ด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2624" y="2843784"/>
            <a:ext cx="1091184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2624" y="2843784"/>
            <a:ext cx="109118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ดูรายละเอียด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MovieController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(Show Action)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รับรหัสภาพยนตร์จากที่อยู่ของหน้า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เรียกใช้ Model เพื่อดึงรายละเอียด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ไม่พบเรื่องนี้จะตอบว่าไม่พบข้อมูล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MovieModel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อ่านข้อมูลเรื่อง เรื่องย่อ ความยาว และเรตติ้ง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ค้นรอบฉายที่ยังไม่ผ่านไป แล้วสรุปเป็นรายวัน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คืนรายการวันที่ที่ยังจองได้ ตามเวลาประเทศไทย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อ่านเรื่องและรอบฉาย (SELECT)</a:t>
            </a:r>
          </a:p>
        </p:txBody>
      </p:sp>
      <p:sp>
        <p:nvSpPr>
          <p:cNvPr id="32" name="Can 31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รายละเอียด + วันที่ที่มีรอบ</a:t>
            </a:r>
          </a:p>
        </p:txBody>
      </p:sp>
      <p:sp>
        <p:nvSpPr>
          <p:cNvPr id="35" name="Oval 34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38" name="Oval 37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หน้ารายละเอียดภาพยนตร์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020824" y="4919472"/>
            <a:ext cx="412394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พร้อมให้เลือกวันและรอบฉาย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ชื่อเรื่อง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อวตาร ภาค 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ความยาว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160 นาที · เรต 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วันที่จองได้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18 - 24 ก.ย. 2569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2" name="Oval 61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ผู้เยี่ยมชม</a:t>
            </a:r>
          </a:p>
        </p:txBody>
      </p:sp>
      <p:cxnSp>
        <p:nvCxnSpPr>
          <p:cNvPr id="65" name="Connector 64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ผู้ชมกดการ์ดหนังที่สนใจจากหน้าแรก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ส่งรหัสเรื่องให้ Model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อ่านรายละเอียด แล้วสรุปว่าวันไหนยังมีรอบฉาย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คืนข้อมูลพร้อมรายการวันที่ให้เลือก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แสดงหน้ารายละเอียดพร้อมปุ่มเลือกวันและรอบ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วันที่ที่แสดงคำนวณตามเวลาประเทศไทย รอบที่เริ่มฉายไปแล้วในวันนี้จะไม่ถูกนับ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19 / 70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F1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606040"/>
            <a:ext cx="10058400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E7B9C0"/>
                </a:solidFill>
                <a:latin typeface="Consolas"/>
                <a:ea typeface="Consolas"/>
                <a:cs typeface="Consolas"/>
              </a:rPr>
              <a:t>/api/showtimes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035808"/>
            <a:ext cx="10058400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รอบฉายและผังที่นั่ง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913632"/>
            <a:ext cx="100584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EBC6CB"/>
                </a:solidFill>
                <a:latin typeface="Leelawadee UI"/>
                <a:ea typeface="Leelawadee UI"/>
                <a:cs typeface="Leelawadee UI"/>
              </a:rPr>
              <a:t>3 endpoint · รอบฉายตามวัน และผังที่นั่งพร้อมราคาต่อโซน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รอบฉายตามวันที่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รอบฉายและผังที่นั่ง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2004060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1711452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GET  /api/showtimes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9004" y="841248"/>
            <a:ext cx="9035491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ผู้ชมเลือกวัน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ตรวจรูปแบบวันที่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ค้นรอบฉาย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แสดงปุ่มเวลาแต่ละรอบ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หน้ารายละเอียดภาพยนตร์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(แถบเลือกวัน)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ภาพยนตร์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อวตาร ภาค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วันที่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2026-09-20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2788920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โรง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5336" y="2788920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ทุกโรง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49680" y="3081528"/>
            <a:ext cx="957072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9680" y="3081528"/>
            <a:ext cx="9570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ดูรอบฉาย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ShowtimeController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(Index Action)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รับรหัสภาพยนตร์ รหัสโรง และวันที่จากแถบเลือก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ตรวจว่าวันที่อยู่ในรูปแบบ ปี-เดือน-วัน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เรียกใช้ Model แล้วส่งรายการรอบกลับไป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ShowtimeModel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นับช่วงของวันตามเวลาประเทศไทย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ตัดรอบที่เริ่มฉายไปแล้วออก ไม่ให้จองย้อนหลัง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แสดงเฉพาะรอบที่ยังไม่ถูกยกเลิก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นับที่นั่งว่างของแต่ละรอบมาให้ด้วย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ค้นรอบฉายตามช่วงเวลา (SELECT)</a:t>
            </a:r>
          </a:p>
        </p:txBody>
      </p:sp>
      <p:sp>
        <p:nvSpPr>
          <p:cNvPr id="34" name="Can 33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รายการรอบ + จำนวนที่นั่งว่าง</a:t>
            </a:r>
          </a:p>
        </p:txBody>
      </p:sp>
      <p:sp>
        <p:nvSpPr>
          <p:cNvPr id="37" name="Oval 36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40" name="Oval 39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หน้ารายละเอียดพร้อมรอบฉาย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020824" y="4919472"/>
            <a:ext cx="412394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พบ 5 รอบในวันที่เลือก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รอบแรก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11:00 น. · โรง 1 · ว่าง 92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รอบถัดไป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14:20 · 17:10 · 20:30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ราคาเริ่มต้น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180 บาท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4" name="Oval 63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ผู้เยี่ยมชม</a:t>
            </a:r>
          </a:p>
        </p:txBody>
      </p:sp>
      <p:cxnSp>
        <p:nvCxnSpPr>
          <p:cNvPr id="67" name="Connector 66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ผู้ชมเลือกวันที่บนหน้ารายละเอียดภาพยนตร์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ตรวจรูปแบบวันที่ก่อนส่งต่อ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คิดช่วงเวลาของวันนั้นตามเวลาประเทศไทย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คืนเฉพาะรอบที่ยังไม่เริ่มฉายและยังไม่ถูกยกเลิก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แสดงปุ่มเวลาแต่ละรอบพร้อมจำนวนที่นั่งว่าง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จำนวนที่นั่งว่างเป็นค่า ณ ตอนที่เรียก ระหว่างเลือกอาจมีคนจองตัดหน้าได้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21 / 70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รายละเอียดรอบฉาย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รอบฉายและผังที่นั่ง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2363724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2071116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GET  /api/showtimes/:id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58668" y="841248"/>
            <a:ext cx="8675827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หน้าเว็บขอข้อมูลรอบ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ส่งรหัสรอบ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อ่านรอบและราคา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แสดงหัวข้อของหน้า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หน้าเลือกที่นั่ง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(ส่วนหัวของหน้า)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รหัสรอบฉาย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แนบมากับที่อยู่ของหน้า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ShowtimeController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(Show Action)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รับรหัสรอบฉายจากที่อยู่ของหน้า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เรียกใช้ Model เพื่ออ่านรายละเอียดรอบนั้น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ไม่พบรอบนี้จะตอบว่าไม่พบข้อมูล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ShowtimeModel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อ่านเวลาเริ่ม เวลาจบ ภาพยนตร์ และโรงที่ฉาย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คิดราคาแต่ละโซนจากราคาตั้งต้นของรอบ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สรุปจำนวนที่นั่งทั้งหมดและที่นั่งที่ยังว่าง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อ่านรอบฉายและราคาโซน (SELECT)</a:t>
            </a:r>
          </a:p>
        </p:txBody>
      </p:sp>
      <p:sp>
        <p:nvSpPr>
          <p:cNvPr id="28" name="Can 27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รายละเอียดรอบ + ราคาแต่ละโซน</a:t>
            </a:r>
          </a:p>
        </p:txBody>
      </p:sp>
      <p:sp>
        <p:nvSpPr>
          <p:cNvPr id="31" name="Oval 30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34" name="Oval 33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ส่วนหัวของหน้าเลือกที่นั่ง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020824" y="4919472"/>
            <a:ext cx="412394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ข้อมูลรอบฉายพร้อมแสดง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ภาพยนตร์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อวตาร ภาค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รอบ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20:30 - 23:10 น. · โรง 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ราคา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ธรรมดา 180 · พรีเมียม 220 · โซฟา 320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58" name="Oval 57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ผู้เยี่ยมชม</a:t>
            </a:r>
          </a:p>
        </p:txBody>
      </p:sp>
      <p:cxnSp>
        <p:nvCxnSpPr>
          <p:cNvPr id="61" name="Connector 60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หน้าเลือกที่นั่งต้องรู้ก่อนว่ากำลังจองรอบไหน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ส่งรหัสรอบฉายให้ Model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อ่านข้อมูลรอบ ภาพยนตร์ โรง และราคาแต่ละโซน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คืนจำนวนที่นั่งทั้งหมดและที่ยังว่างมาด้วย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แสดงเป็นส่วนหัวของหน้าเลือกที่นั่ง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ราคาแต่ละโซนคิดจากราคาตั้งต้นของรอบ ผู้ดูแลจึงปรับราคาทั้งรอบได้ที่ตัวเลขเดียว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22 / 70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ผังที่นั่งของรอบฉาย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รอบฉายและผังที่นั่ง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2903220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2610612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GET  /api/showtimes/:id/seats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8164" y="841248"/>
            <a:ext cx="8136331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ผู้ชมเปิดหน้าเลือกที่นั่ง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ส่งรหัสรอบ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รวมผังกับที่นั่งที่ถูกจอง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วาดผัง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หน้าเลือกที่นั่ง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(โหลดผังอัตโนมัติ)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รอบฉาย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20:30 น. · โรง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รีเฟรช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ทุกไม่กี่วินาที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ShowtimeController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(Seat Map Action)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รับรหัสรอบฉายจากที่อยู่ของหน้า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เรียกใช้ Model เพื่อประกอบผังที่นั่ง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ส่งผังทั้งผืนกลับไปให้หน้าเว็บวาด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SeatMapModel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อ่านที่นั่งทั้งหมดของโรง เฉพาะที่ยังเปิดใช้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อ่านที่นั่งที่ถูกยึดอยู่ในรอบนี้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แยกเป็นจองแล้ว (จ่ายเงินแล้ว) กับกำลังถูกกันไว้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ใส่ราคาตามโซนของแต่ละที่นั่ง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อ่านที่นั่งและที่นั่งที่ถูกยึด (SELECT)</a:t>
            </a:r>
          </a:p>
        </p:txBody>
      </p:sp>
      <p:sp>
        <p:nvSpPr>
          <p:cNvPr id="30" name="Can 29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ผังที่นั่งพร้อมสถานะและราคา</a:t>
            </a:r>
          </a:p>
        </p:txBody>
      </p:sp>
      <p:sp>
        <p:nvSpPr>
          <p:cNvPr id="33" name="Oval 32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36" name="Oval 35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ผังที่นั่งบนหน้าจอ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020824" y="4919472"/>
            <a:ext cx="412394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ผังพร้อมให้เลือก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ทั้งหมด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120 ที่นั่ง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ว่าง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92 ที่นั่ง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สถานะ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ว่าง / กำลังถูกกันไว้ / จองแล้ว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0" name="Oval 59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ผู้เยี่ยมชม</a:t>
            </a:r>
          </a:p>
        </p:txBody>
      </p:sp>
      <p:cxnSp>
        <p:nvCxnSpPr>
          <p:cNvPr id="63" name="Connector 62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ผู้ชมเปิดหน้าเลือกที่นั่งของรอบที่เลือกไว้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ส่งรหัสรอบฉายให้ Model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อ่านผังของโรงพร้อมที่นั่งที่ถูกยึดในรอบนั้น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แยกสถานะเป็นว่าง กำลังถูกกันไว้ และจองแล้ว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วาดผังเป็นแถว A B C พร้อมสีตามโซนและสถานะ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การจองที่ยกเลิกหรือหมดเวลาจะถูกลบแถวที่นั่งทิ้ง ที่นั่งจึงกลับมาว่างเองโดยไม่ต้องล้างข้อมูล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23 / 70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F1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606040"/>
            <a:ext cx="10058400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E7B9C0"/>
                </a:solidFill>
                <a:latin typeface="Consolas"/>
                <a:ea typeface="Consolas"/>
                <a:cs typeface="Consolas"/>
              </a:rPr>
              <a:t>/api/bookings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035808"/>
            <a:ext cx="10058400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การจอง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913632"/>
            <a:ext cx="100584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EBC6CB"/>
                </a:solidFill>
                <a:latin typeface="Leelawadee UI"/>
                <a:ea typeface="Leelawadee UI"/>
                <a:cs typeface="Leelawadee UI"/>
              </a:rPr>
              <a:t>5 endpoint · จองที่นั่ง ดูรายการจอง ออกตั๋ว และยกเลิก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สร้างการจอง (จองที่นั่ง)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การจอง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2004060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1711452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POST  /api/bookings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9004" y="841248"/>
            <a:ext cx="9035491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ผู้ใช้กดยืนยันที่นั่ง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ตรวจสิทธิ์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จองที่นั่ง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แสดงผลการจอง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หน้าเลือกที่นั่ง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(หน้าแบบฟอร์ม)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รอบฉาย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20:30 น. · โรง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ที่นั่ง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F5, F6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2788920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ราคารวม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5336" y="2788920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440 บาท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56716" y="3081528"/>
            <a:ext cx="1143000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56716" y="3081528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ยืนยันการจอง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BookingController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(Create Action)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รับรหัสรอบฉายและรายการที่นั่งจากฟอร์ม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ตรวจว่าเข้าสู่ระบบแล้ว และรู้ว่าเป็นของใคร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ตรวจว่าเลือกที่นั่งมาอย่างน้อย 1 ที่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เรียกใช้ Model แล้วเลือก View ที่จะแสดง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BookingModel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ตรวจว่ารอบฉายยังไม่ถูกยกเลิกและยังไม่เริ่มฉาย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คิดราคาตามโซนของแต่ละที่นั่ง แล้วรวมยอด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บันทึกการจองพร้อมใบชำระเงินในรายการเดียว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ให้เวลาชำระเงิน 5 นาที จองได้ครั้งละไม่เกิน 8 ที่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บันทึกการจองและที่นั่ง (INSERT)</a:t>
            </a:r>
          </a:p>
        </p:txBody>
      </p:sp>
      <p:sp>
        <p:nvSpPr>
          <p:cNvPr id="34" name="Can 33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ผลลัพธ์ (สำเร็จ / ที่นั่งถูกตัดหน้า)</a:t>
            </a:r>
          </a:p>
        </p:txBody>
      </p:sp>
      <p:sp>
        <p:nvSpPr>
          <p:cNvPr id="37" name="Oval 36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40" name="Oval 39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หน้าผลการจอง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020824" y="4919472"/>
            <a:ext cx="4123944" cy="1444752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จองที่นั่งสำเร็จ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รหัสการจอง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BK-8FQ2K7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ที่นั่ง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F5, F6 (โซนพรีเมียม)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ยอดที่ต้องชำระ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440 บาท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21408" y="6025896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ชำระภายใน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47288" y="6025896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05:00 นาที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6" name="Oval 65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ผู้ใช้</a:t>
            </a:r>
          </a:p>
        </p:txBody>
      </p:sp>
      <p:cxnSp>
        <p:nvCxnSpPr>
          <p:cNvPr id="69" name="Connector 68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86016" y="4681728"/>
            <a:ext cx="4599432" cy="11948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ผู้ใช้เลือกที่นั่งบนผังแล้วกดยืนยัน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ตรวจสิทธิ์และรูปแบบข้อมูล แล้วส่งให้ Model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คิดราคา บันทึกการจอง และกันที่นั่งไว้ 5 นาที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ส่งรหัสการจองและยอดเงินกลับไปที่ View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พาไปหน้าชำระเงินพร้อมนับถอยหลังทันที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986016" y="5876544"/>
            <a:ext cx="4599432" cy="432816"/>
          </a:xfrm>
          <a:prstGeom prst="roundRect">
            <a:avLst>
              <a:gd name="adj" fmla="val 12676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068312" y="5931408"/>
            <a:ext cx="4434840" cy="323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ฐานข้อมูลเป็นด่านกันที่นั่งซ้ำ ถ้าสองคนกดพร้อมกัน คนที่ช้ากว่าจะได้ SEAT_TAKEN พร้อมรายชื่อที่นั่งที่ชน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25 / 70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รายการจองของฉัน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การจอง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1914144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1621536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GET  /api/bookings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9088" y="841248"/>
            <a:ext cx="9125407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ผู้ใช้เปิดหน้าการจอง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ตรวจสิทธิ์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ค้นเฉพาะของเจ้าตัว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แสดงรายการ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หน้าการจองของฉัน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(แถบเลือกมุมมอง)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121664"/>
          </a:xfrm>
          <a:prstGeom prst="roundRect">
            <a:avLst>
              <a:gd name="adj" fmla="val 5706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335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มุมมอง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335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ทั้งหมด / ที่กำลังจะถึง / ประวัติ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64871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ตัวเลือกที่กด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64871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ที่กำลังจะถึง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2718" y="2941320"/>
            <a:ext cx="1110996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2718" y="2941320"/>
            <a:ext cx="1110996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แสดงรายการ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BookingController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(Index Action)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ต้องเข้าสู่ระบบก่อนจึงจะเรียกได้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รับมุมมองที่เลือกจากแถบด้านบน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ส่งรหัสผู้ใช้จากโทเคนไปให้ Model เสมอ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ผู้ใช้จึงเห็นได้เฉพาะรายการของตัวเอง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BookingModel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มุมมองที่กำลังจะถึง: เอาเฉพาะรอบที่ยังไม่ฉายและยังไม่ปิด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มุมมองประวัติ: รายการที่ยกเลิก หมดอายุ หรือฉายไปแล้ว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แนบข้อมูลรอบฉาย ภาพยนตร์ และสถานะการชำระเงินมาด้วย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เรียงรายการใหม่สุดขึ้นก่อน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ค้นการจองของผู้ใช้ (SELECT)</a:t>
            </a:r>
          </a:p>
        </p:txBody>
      </p:sp>
      <p:sp>
        <p:nvSpPr>
          <p:cNvPr id="32" name="Can 31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รายการจองพร้อมสถานะ</a:t>
            </a:r>
          </a:p>
        </p:txBody>
      </p:sp>
      <p:sp>
        <p:nvSpPr>
          <p:cNvPr id="35" name="Oval 34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38" name="Oval 37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หน้าการจองของฉัน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020824" y="4919472"/>
            <a:ext cx="412394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พบ 3 รายการในมุมมองนี้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BK-8FQ2K7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รอชำระเงิน · เหลือ 04:12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BK-3XM901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ชำระเงินแล้ว · เปิดตั๋วได้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BK-7LQ445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รอผู้ดูแลตรวจสลิป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2" name="Oval 61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ผู้ใช้</a:t>
            </a:r>
          </a:p>
        </p:txBody>
      </p:sp>
      <p:cxnSp>
        <p:nvCxnSpPr>
          <p:cNvPr id="65" name="Connector 64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ผู้ใช้เปิดหน้าการจองของฉันและเลือกมุมมอง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ตรวจสิทธิ์ แล้วส่งรหัสผู้ใช้ไปกับคำขอเสมอ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ค้นเฉพาะการจองของบัญชีนั้น ตามมุมมองที่เลือก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คืนรายการพร้อมข้อมูลรอบฉายและสถานะการชำระเงิน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แสดงเป็นการ์ดพร้อมปุ่มที่ทำได้ตามสถานะ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รหัสผู้ใช้มาจากโทเคน ไม่ใช่จากค่าที่หน้าเว็บส่งมา จึงขอดูรายการของคนอื่นไม่ได้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26 / 70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รายละเอียดการจอง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การจอง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2273808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1981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GET  /api/bookings/:id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68752" y="841248"/>
            <a:ext cx="8765743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ผู้ใช้กดดูรายการ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ส่งรหัสการจอง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ตรวจความเป็นเจ้าของ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แสดงรายละเอียด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การ์ดการจองในรายการ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(กดเพื่อดูรายละเอียด)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รหัสการจอง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BK-8FQ2K7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การกระทำ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กดดูรายละเอียด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2624" y="2843784"/>
            <a:ext cx="1091184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2624" y="2843784"/>
            <a:ext cx="109118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ดูรายละเอียด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BookingController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(Show Action)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ต้องเข้าสู่ระบบก่อนจึงจะเรียกได้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รับรหัสการจองจากที่อยู่ของหน้า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ส่งรหัสผู้ใช้ไปให้ Model ตรวจความเป็นเจ้าของ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BookingModel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ไม่พบรายการนี้จะตอบว่าไม่พบข้อมูล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ถ้าไม่ใช่เจ้าของ จะตอบว่าไม่มีสิทธิ์เข้าถึง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คิดให้ด้วยว่าตอนนี้ยกเลิกได้ไหม และเหลือเวลาอีกกี่วินาที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แนบสถานะการชำระเงินและข้อมูลคืนเงินมาด้วย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อ่านการจองพร้อมข้อมูลที่เกี่ยวข้อง (SELECT)</a:t>
            </a:r>
          </a:p>
        </p:txBody>
      </p:sp>
      <p:sp>
        <p:nvSpPr>
          <p:cNvPr id="32" name="Can 31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รายละเอียดการจอง</a:t>
            </a:r>
          </a:p>
        </p:txBody>
      </p:sp>
      <p:sp>
        <p:nvSpPr>
          <p:cNvPr id="35" name="Oval 34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38" name="Oval 37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หน้ารายละเอียดการจอง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020824" y="4919472"/>
            <a:ext cx="4123944" cy="1444752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ชำระเงินแล้ว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ภาพยนตร์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อวตาร ภาค 3 · โรง 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รอบฉาย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20 ก.ย. 2569 เวลา 20:30 น.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ที่นั่ง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F5, F6 · รวม 440 บาท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21408" y="6025896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ยกเลิกได้ถึง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47288" y="6025896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17:30 น. ของวันฉาย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4" name="Oval 63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ผู้ใช้</a:t>
            </a:r>
          </a:p>
        </p:txBody>
      </p:sp>
      <p:cxnSp>
        <p:nvCxnSpPr>
          <p:cNvPr id="67" name="Connector 66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ผู้ใช้กดการ์ดการจองเพื่อดูรายละเอียด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ส่งรหัสการจองพร้อมรหัสผู้ใช้ให้ Model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ตรวจว่าเป็นเจ้าของรายการนี้จริง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คืนรายละเอียดพร้อมคำตอบว่าตอนนี้ยกเลิกได้หรือไม่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แสดงรายละเอียดและเปิดปุ่มเท่าที่ทำได้จริง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ระบบเป็นคนตัดสินว่ายกเลิกได้ไหม แล้วส่งคำตอบมาให้ หน้าเว็บไม่ได้คิดกฎนี้เอง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27 / 70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ขอข้อมูลตั๋วอิเล็กทรอนิกส์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การจอง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2903220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2610612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GET  /api/bookings/:id/ticket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8164" y="841248"/>
            <a:ext cx="8136331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ผู้ใช้กดเปิดตั๋ว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ส่งรหัสการจอง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ตรวจว่าชำระแล้ว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แสดงตั๋วพร้อมคิวอาร์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หน้ารายละเอียดการจอง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(ปุ่มเปิดตั๋ว)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รหัสการจอง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BK-3XM901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สถานะ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ชำระเงินแล้ว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3504" y="2843784"/>
            <a:ext cx="1109424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3504" y="2843784"/>
            <a:ext cx="110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เปิด E-Ticket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BookingController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(Ticket Action)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ต้องเข้าสู่ระบบก่อนจึงจะเรียกได้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รับรหัสการจองจากที่อยู่ของหน้า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ส่งรหัสผู้ใช้ไปตรวจความเป็นเจ้าของด้วย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TicketModel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อ่านการจองและตรวจว่าเป็นของผู้เรียกจริง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ออกตั๋วให้เฉพาะรายการที่ชำระเงินเรียบร้อยแล้ว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รายการที่ยังรอจ่ายหรือรอตรวจสลิป จะยังไม่ออกตั๋วให้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ใช้รหัสการจองเป็นข้อมูลในคิวอาร์สำหรับสแกนหน้าโรง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อ่านการจองที่ชำระแล้ว (SELECT)</a:t>
            </a:r>
          </a:p>
        </p:txBody>
      </p:sp>
      <p:sp>
        <p:nvSpPr>
          <p:cNvPr id="32" name="Can 31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ข้อมูลตั๋ว + รหัสสำหรับคิวอาร์</a:t>
            </a:r>
          </a:p>
        </p:txBody>
      </p:sp>
      <p:sp>
        <p:nvSpPr>
          <p:cNvPr id="35" name="Oval 34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38" name="Oval 37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หน้าตั๋วอิเล็กทรอนิกส์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020824" y="4919472"/>
            <a:ext cx="4123944" cy="1444752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ตั๋วพร้อมใช้งาน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รหัสตั๋ว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BK-3XM901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ภาพยนตร์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อวตาร ภาค 3 · โรง 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รอบ / ที่นั่ง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20:30 น. · F5, F6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21408" y="6025896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คิวอาร์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47288" y="6025896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สแกนที่หน้าโรง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4" name="Oval 63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ผู้ใช้</a:t>
            </a:r>
          </a:p>
        </p:txBody>
      </p:sp>
      <p:cxnSp>
        <p:nvCxnSpPr>
          <p:cNvPr id="67" name="Connector 66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ผู้ใช้กดปุ่มเปิดตั๋วจากหน้ารายละเอียดการจอง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ส่งรหัสการจองและรหัสผู้ใช้ให้ Model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ตรวจความเป็นเจ้าของและสถานะการชำระเงิน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ออกข้อมูลตั๋วพร้อมรหัสสำหรับสร้างคิวอาร์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แสดงตั๋วเต็มหน้าจอให้สแกนที่หน้าโรงได้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ตั๋วออกให้เฉพาะรายการที่ชำระเงินได้รับการยืนยันแล้ว รายการที่รอตรวจสลิปจะยังเปิดตั๋วไม่ได้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28 / 70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ยกเลิกการจอง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การจอง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2993136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2700528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POST  /api/bookings/:id/cancel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88080" y="841248"/>
            <a:ext cx="8046415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ผู้ใช้กดยกเลิก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รับเหตุผลและบัญชีรับเงินคืน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คืนที่นั่ง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แจ้งผล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กล่องยืนยันการยกเลิก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(หน้าแบบฟอร์ม)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เหตุผล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ติดธุระ ไปไม่ได้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ธนาคาร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กสิกรไทย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2788920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เลขที่บัญชี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5336" y="2788920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123-4-56789-0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4232" y="3081528"/>
            <a:ext cx="1267968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4232" y="3081528"/>
            <a:ext cx="126796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ยืนยันการยกเลิก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BookingController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(Cancel Action)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ต้องเข้าสู่ระบบก่อนจึงจะเรียกได้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รับเหตุผล ธนาคาร และเลขที่บัญชีสำหรับรับเงินคืน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ตัดขีดและเว้นวรรคออกจากเลขบัญชีให้อัตโนมัติ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เรียกใช้ Model แล้วส่งการจองที่อัปเดตแล้วกลับไป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BookingModel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ยกเลิกได้ก่อนรอบฉายอย่างน้อย 3 ชั่วโมงเท่านั้น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ระหว่างที่สลิปรอผู้ดูแลตรวจ ผู้ใช้ยกเลิกเองไม่ได้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ลบแถวที่นั่งทิ้ง ที่นั่งจึงกลับเข้าระบบทันที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ใบที่จ่ายเงินแล้วจะเข้าคิวรอผู้ดูแลโอนคืน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ลบที่นั่งและปรับสถานะ (DELETE + UPDATE)</a:t>
            </a:r>
          </a:p>
        </p:txBody>
      </p:sp>
      <p:sp>
        <p:nvSpPr>
          <p:cNvPr id="34" name="Can 33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การจองที่ยกเลิกแล้ว</a:t>
            </a:r>
          </a:p>
        </p:txBody>
      </p:sp>
      <p:sp>
        <p:nvSpPr>
          <p:cNvPr id="37" name="Oval 36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40" name="Oval 39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หน้าการจองหลังยกเลิก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020824" y="4919472"/>
            <a:ext cx="4123944" cy="1444752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ยกเลิกการจองเรียบร้อย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สถานะ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ยกเลิกแล้ว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ที่นั่ง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คืนเข้าระบบแล้ว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การคืนเงิน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เข้าคิวรอผู้ดูแลโอนคืน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21408" y="6025896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บัญชีรับเงิน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47288" y="6025896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กสิกรไทย 123-4-56789-0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6" name="Oval 65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ผู้ใช้</a:t>
            </a:r>
          </a:p>
        </p:txBody>
      </p:sp>
      <p:cxnSp>
        <p:nvCxnSpPr>
          <p:cNvPr id="69" name="Connector 68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86016" y="4681728"/>
            <a:ext cx="4599432" cy="11948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ผู้ใช้กดยกเลิกและกรอกบัญชีสำหรับรับเงินคืน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จัดรูปแบบเลขบัญชีแล้วส่งให้ Model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ตรวจว่ายังเหลือเวลาก่อนฉายอย่างน้อย 3 ชั่วโมง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ลบแถวที่นั่งเพื่อคืนที่นั่งเข้าระบบ และแจ้งเตือนผู้ใช้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แสดงว่ายกเลิกแล้วและรอผู้ดูแลโอนเงินคืน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986016" y="5876544"/>
            <a:ext cx="4599432" cy="432816"/>
          </a:xfrm>
          <a:prstGeom prst="roundRect">
            <a:avLst>
              <a:gd name="adj" fmla="val 12676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068312" y="5931408"/>
            <a:ext cx="4434840" cy="323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ใบที่จ่ายเงินแล้วต้องส่งธนาคารและเลขที่บัญชีมาด้วย ไม่งั้นผู้ดูแลได้แต่คิวคืนเงินที่โอนกลับไม่ได้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29 / 70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F1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606040"/>
            <a:ext cx="10058400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E7B9C0"/>
                </a:solidFill>
                <a:latin typeface="Consolas"/>
                <a:ea typeface="Consolas"/>
                <a:cs typeface="Consolas"/>
              </a:rPr>
              <a:t>/api/payments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035808"/>
            <a:ext cx="10058400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การชำระเงิน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913632"/>
            <a:ext cx="100584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EBC6CB"/>
                </a:solidFill>
                <a:latin typeface="Leelawadee UI"/>
                <a:ea typeface="Leelawadee UI"/>
                <a:cs typeface="Leelawadee UI"/>
              </a:rPr>
              <a:t>4 endpoint · โอนผ่าน PromptPay แล้วส่งสลิปให้ตรวจ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ข้อมูลหน้าชำระเงิน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การชำระเงิน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2903220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2610612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GET  /api/payments/:bookingId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8164" y="841248"/>
            <a:ext cx="8136331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ผู้ใช้เข้าหน้าชำระเงิน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ตรวจสิทธิ์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อ่านใบชำระเงิน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แสดงคิวอาร์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หน้าชำระเงิน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(โหลดข้อมูลอัตโนมัติ)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รหัสการจอง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BK-8FQ2K7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สิ่งที่ต้องการ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ยอดเงิน + คิวอาร์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PaymentController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(Show Action)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ต้องเข้าสู่ระบบก่อนจึงจะเรียกได้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รับรหัสการจองจากที่อยู่ของหน้า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ส่งรหัสผู้ใช้ไปตรวจความเป็นเจ้าของด้วย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PaymentModel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ตรวจว่าการจองนี้เป็นของผู้เรียกจริง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คืนยอดเงิน เลขอ้างอิง และข้อมูลสำหรับสร้างคิวอาร์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คืนเวลาที่เหลือของการกันที่นั่งมาให้นับถอยหลัง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ถ้าสลิปเคยถูกปฏิเสธ จะคืนเหตุผลมาแสดงด้วย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อ่านใบชำระเงินของการจอง (SELECT)</a:t>
            </a:r>
          </a:p>
        </p:txBody>
      </p:sp>
      <p:sp>
        <p:nvSpPr>
          <p:cNvPr id="30" name="Can 29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ยอดเงิน + คิวอาร์ + เวลาที่เหลือ</a:t>
            </a:r>
          </a:p>
        </p:txBody>
      </p:sp>
      <p:sp>
        <p:nvSpPr>
          <p:cNvPr id="33" name="Oval 32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36" name="Oval 35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หน้าชำระเงินพร้อมคิวอาร์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020824" y="4919472"/>
            <a:ext cx="4123944" cy="1444752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รอการชำระเงิน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ยอดที่ต้องโอน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440 บาท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ช่องทาง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PromptPay (สแกนคิวอาร์)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เลขอ้างอิง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PM-4K7QX2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6025896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เหลือเวลา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6025896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04:12 นาที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2" name="Oval 61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ผู้ใช้</a:t>
            </a:r>
          </a:p>
        </p:txBody>
      </p:sp>
      <p:cxnSp>
        <p:nvCxnSpPr>
          <p:cNvPr id="65" name="Connector 64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ผู้ใช้ถูกพามาที่หน้าชำระเงินหลังจองสำเร็จ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ตรวจสิทธิ์แล้วส่งรหัสการจองให้ Model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ตรวจความเป็นเจ้าของ แล้วคืนยอดเงินและคิวอาร์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คืนเวลาที่เหลือของการกันที่นั่งมาด้วย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วาดคิวอาร์และนับถอยหลังให้ผู้ใช้โอนเงิน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ข้อมูลคิวอาร์ถูกสร้างไว้ตั้งแต่ตอนจอง ยอดเงินในคิวอาร์จึงตรงกับยอดที่ต้องจ่ายเสมอ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31 / 70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อัปโหลดสลิปการโอนเงิน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การชำระเงิน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3442716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3150108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POST  /api/payments/:bookingId/slip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37660" y="841248"/>
            <a:ext cx="7596835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ผู้ใช้แนบรูปสลิป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รับไฟล์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บันทึกและหยุดนับถอยหลัง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แจ้งว่ารอตรวจ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หน้าชำระเงิน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(ส่วนแนบสลิป)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ไฟล์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slip-2569-09-18.png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ยอดที่ต้องโอน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440 บาท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2788920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เหลือเวลา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5336" y="2788920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03:48 นาที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19022" y="3081528"/>
            <a:ext cx="818388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19022" y="3081528"/>
            <a:ext cx="81838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ส่งสลิป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PaymentController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(Upload Slip Action)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ต้องเข้าสู่ระบบก่อนจึงจะเรียกได้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ด่านรับไฟล์ตรวจชนิดและขนาดของรูปก่อน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เก็บไฟล์ไว้นอกโฟลเดอร์สาธารณะ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เรียกใช้ Model แล้วส่งสถานะใหม่กลับไป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PaymentModel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รับสลิปเฉพาะรายการที่ยังรอชำระและยังไม่หมดเวลา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เปลี่ยนสถานะเป็นรอผู้ดูแลตรวจสอบ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หยุดนับถอยหลัง ที่นั่งถูกกันไว้ต่อจนกว่าจะมีผล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ส่งสลิปใหม่หลังถูกปฏิเสธได้ ระบบจะลบไฟล์เก่าทิ้ง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บันทึกสลิปและปรับสถานะ (UPDATE)</a:t>
            </a:r>
          </a:p>
        </p:txBody>
      </p:sp>
      <p:sp>
        <p:nvSpPr>
          <p:cNvPr id="34" name="Can 33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สถานะการชำระเงินล่าสุด</a:t>
            </a:r>
          </a:p>
        </p:txBody>
      </p:sp>
      <p:sp>
        <p:nvSpPr>
          <p:cNvPr id="37" name="Oval 36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40" name="Oval 39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หน้าชำระเงินหลังส่งสลิป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020824" y="4919472"/>
            <a:ext cx="4123944" cy="1444752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ส่งสลิปแล้ว กำลังรอผู้ดูแลตรวจสอบ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สถานะ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รอตรวจสอบ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ที่นั่ง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ยังถูกกันไว้ให้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การนับถอยหลัง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หยุดแล้ว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21408" y="6025896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ขั้นต่อไป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47288" y="6025896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รอผลอนุมัติจากผู้ดูแล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6" name="Oval 65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ผู้ใช้</a:t>
            </a:r>
          </a:p>
        </p:txBody>
      </p:sp>
      <p:cxnSp>
        <p:nvCxnSpPr>
          <p:cNvPr id="69" name="Connector 68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ผู้ใช้โอนเงินแล้วแนบรูปสลิปขึ้นมา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ตรวจชนิดและขนาดไฟล์ก่อนรับไว้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ตรวจว่ารายการยังชำระได้และยังไม่หมดเวลา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บันทึกสลิป เปลี่ยนสถานะเป็นรอตรวจ และหยุดนับถอยหลัง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แจ้งว่าที่นั่งยังถูกกันไว้ ระหว่างรอผลอนุมัติ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หยุดนับถอยหลังโดยตั้งใจ ผู้ใช้จะได้ไม่เสียที่นั่งเพราะผู้ดูแลตรวจสลิปช้า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32 / 70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ดูรูปสลิปที่ส่งไว้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การชำระเงิน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3352800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3060192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GET  /api/payments/:bookingId/slip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47744" y="841248"/>
            <a:ext cx="7686751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ผู้ใช้หรือผู้ดูแลกดดูสลิป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ตรวจสิทธิ์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หาที่อยู่ไฟล์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แสดงรูป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หน้าชำระเงิน / หน้าคิวตรวจสลิป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(ปุ่มดูสลิป)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รหัสการจอง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BK-8FQ2K7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ผู้ขอดู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เจ้าของ หรือ ผู้ดูแล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42644" y="2843784"/>
            <a:ext cx="771144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42644" y="2843784"/>
            <a:ext cx="7711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ดูสลิป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PaymentController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(Slip Image Action)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ต้องเข้าสู่ระบบก่อนจึงจะเรียกได้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รับรหัสการจองจากที่อยู่ของหน้า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ส่งไฟล์รูปกลับไปตรง ๆ ไม่ใช่ข้อมูลตัวอักษร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PaymentModel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ไม่มีสลิปสำหรับรายการนี้จะตอบว่าไม่พบไฟล์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ให้ดูได้เฉพาะเจ้าของการจองหรือผู้ดูแลระบบ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แปลงชื่อไฟล์เป็นที่อยู่จริงในเครื่อง แล้วคืนให้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อ่านชื่อไฟล์สลิปของการจอง (SELECT)</a:t>
            </a:r>
          </a:p>
        </p:txBody>
      </p:sp>
      <p:sp>
        <p:nvSpPr>
          <p:cNvPr id="32" name="Can 31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ที่อยู่ไฟล์ในเครื่อง</a:t>
            </a:r>
          </a:p>
        </p:txBody>
      </p:sp>
      <p:sp>
        <p:nvSpPr>
          <p:cNvPr id="35" name="Oval 34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38" name="Oval 37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กล่องแสดงรูปสลิป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020824" y="4919472"/>
            <a:ext cx="412394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แสดงสลิปให้ผู้มีสิทธิ์เท่านั้น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รูปแบบ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ไฟล์รูปภาพ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ผู้ที่เปิดดูได้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เจ้าของการจอง และผู้ดูแลระบบ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การเข้าถึงโดยตรง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เปิดจาก URL ตรง ๆ ไม่ได้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2" name="Oval 61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ผู้ใช้</a:t>
            </a:r>
          </a:p>
        </p:txBody>
      </p:sp>
      <p:cxnSp>
        <p:nvCxnSpPr>
          <p:cNvPr id="65" name="Connector 64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ผู้ใช้หรือผู้ดูแลกดปุ่มดูสลิป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ตรวจว่าเข้าสู่ระบบแล้ว แล้วส่งต่อให้ Model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ตรวจว่าเป็นเจ้าของการจอง หรือเป็นผู้ดูแลระบบ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คืนที่อยู่ไฟล์จริงในเครื่องให้ Controller ส่งไฟล์ออกไป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แสดงรูปสลิปในกล่องบนหน้าจอ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สลิปไม่ได้เปิดเป็นไฟล์สาธารณะ ทุกครั้งที่ขอดูต้องผ่านการตรวจสิทธิ์ก่อนเสมอ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33 / 70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ดูสลิปการคืนเงิน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การชำระเงิน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3982212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368960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GET  /api/payments/:bookingId/refund-slip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7156" y="841248"/>
            <a:ext cx="7057339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ผู้ใช้กดดูหลักฐานคืนเงิน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ตรวจสิทธิ์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หาไฟล์สลิปคืนเงิน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แสดงรูป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หน้ารายละเอียดการจองที่ยกเลิก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(ปุ่มดูหลักฐานการคืนเงิน)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รหัสการจอง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BK-7LQ445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สถานะ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คืนเงินแล้ว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91006" y="2843784"/>
            <a:ext cx="1074420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1006" y="2843784"/>
            <a:ext cx="107442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ดูสลิปคืนเงิน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PaymentController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(Refund Slip Action)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ต้องเข้าสู่ระบบก่อนจึงจะเรียกได้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รับรหัสการจองจากที่อยู่ของหน้า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ส่งไฟล์รูปกลับไปเหมือนสลิปฝั่งจ่ายเงิน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PaymentModel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ยังไม่มีสลิปคืนเงินจะตอบว่าไม่พบไฟล์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ให้ดูได้เฉพาะเจ้าของการจองหรือผู้ดูแลระบบ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อ่านจากคลังไฟล์คนละชุดกับสลิปฝั่งจ่ายเงิน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อ่านชื่อไฟล์สลิปคืนเงิน (SELECT)</a:t>
            </a:r>
          </a:p>
        </p:txBody>
      </p:sp>
      <p:sp>
        <p:nvSpPr>
          <p:cNvPr id="32" name="Can 31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ที่อยู่ไฟล์ในเครื่อง</a:t>
            </a:r>
          </a:p>
        </p:txBody>
      </p:sp>
      <p:sp>
        <p:nvSpPr>
          <p:cNvPr id="35" name="Oval 34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38" name="Oval 37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กล่องแสดงสลิปคืนเงิน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020824" y="4919472"/>
            <a:ext cx="412394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แสดงหลักฐานการโอนคืน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ผู้โอนคืน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ยอดที่คืน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440 บาท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ผู้ที่เปิดดูได้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เจ้าของการจอง และผู้ดูแลระบบ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2" name="Oval 61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ผู้ใช้</a:t>
            </a:r>
          </a:p>
        </p:txBody>
      </p:sp>
      <p:cxnSp>
        <p:nvCxnSpPr>
          <p:cNvPr id="65" name="Connector 64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ผู้ใช้เปิดรายการที่ยกเลิกแล้วกดดูหลักฐานการคืนเงิน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ตรวจสิทธิ์แล้วส่งรหัสการจองให้ Model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ตรวจว่ามีสลิปคืนเงินอยู่จริง และผู้ขอมีสิทธิ์ดู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คืนที่อยู่ไฟล์ให้ Controller ส่งรูปออกไป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แสดงสลิปเป็นหลักฐานว่าโอนคืนไปแล้วจริง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สลิปคืนเงินแนบได้แต่ไม่บังคับ บางรายการจึงอาจไม่มีไฟล์นี้ แม้จะบันทึกว่าคืนเงินแล้ว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34 / 70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F1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606040"/>
            <a:ext cx="10058400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E7B9C0"/>
                </a:solidFill>
                <a:latin typeface="Consolas"/>
                <a:ea typeface="Consolas"/>
                <a:cs typeface="Consolas"/>
              </a:rPr>
              <a:t>/api/notifications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035808"/>
            <a:ext cx="10058400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การแจ้งเตือน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913632"/>
            <a:ext cx="100584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EBC6CB"/>
                </a:solidFill>
                <a:latin typeface="Leelawadee UI"/>
                <a:ea typeface="Leelawadee UI"/>
                <a:cs typeface="Leelawadee UI"/>
              </a:rPr>
              <a:t>3 endpoint · แจ้งเตือนในระบบ และการทำเครื่องหมายว่าอ่านแล้ว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รายการแจ้งเตือนของฉัน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การแจ้งเตือน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2363724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2071116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GET  /api/notifications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58668" y="841248"/>
            <a:ext cx="8675827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หน้าเว็บถามเป็นระยะ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ตรวจสิทธิ์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ค้นแจ้งเตือน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แสดงป้ายตัวเลข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กระดิ่งแจ้งเตือนบนแถบเมนู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(ระบบถามซ้ำเป็นระยะ)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เฉพาะที่ยังไม่อ่าน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ไม่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จำนวนสูงสุด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50 รายการ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NotificationController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(Index Action)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ต้องเข้าสู่ระบบก่อนจึงจะเรียกได้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รับตัวเลือกว่าจะเอาเฉพาะที่ยังไม่อ่านหรือไม่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จำกัดจำนวนที่ขอได้ไม่เกิน 100 รายการ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ส่งรหัสผู้ใช้จากโทเคนไปให้ Model เสมอ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NotificationModel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ค้นเฉพาะแจ้งเตือนของบัญชีที่เรียกเข้ามา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นับจำนวนที่ยังไม่อ่านมาให้พร้อมกันในครั้งเดียว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แต่ละรายการเก็บข้อความไว้ทั้งไทยและอังกฤษ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เรียงรายการใหม่สุดขึ้นก่อน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ค้นแจ้งเตือนและนับที่ยังไม่อ่าน (SELECT)</a:t>
            </a:r>
          </a:p>
        </p:txBody>
      </p:sp>
      <p:sp>
        <p:nvSpPr>
          <p:cNvPr id="30" name="Can 29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รายการ + จำนวนที่ยังไม่อ่าน</a:t>
            </a:r>
          </a:p>
        </p:txBody>
      </p:sp>
      <p:sp>
        <p:nvSpPr>
          <p:cNvPr id="33" name="Oval 32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36" name="Oval 35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กล่องแจ้งเตือน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020824" y="4919472"/>
            <a:ext cx="412394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มีแจ้งเตือนใหม่ 3 รายการ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ยืนยันการชำระเงินแล้ว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BK-3XM901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สลิปไม่ผ่านการตรวจสอบ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BK-7LQ445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ใกล้ถึงเวลาฉายแล้ว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อวตาร ภาค 3 · 20:30 น.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0" name="Oval 59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ผู้ใช้</a:t>
            </a:r>
          </a:p>
        </p:txBody>
      </p:sp>
      <p:cxnSp>
        <p:nvCxnSpPr>
          <p:cNvPr id="63" name="Connector 62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หน้าเว็บถามหาแจ้งเตือนใหม่เป็นระยะโดยอัตโนมัติ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ตรวจสิทธิ์และจำกัดจำนวนที่ขอได้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ค้นเฉพาะแจ้งเตือนของบัญชีนั้น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คืนรายการพร้อมจำนวนที่ยังไม่อ่านในครั้งเดียว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อัปเดตป้ายตัวเลขบนกระดิ่งทันที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ข้อความเก็บทั้งไทยและอังกฤษไว้ในแถวเดียว ผู้ใช้สลับภาษาแล้วข้อความเก่าจึงเปลี่ยนตามได้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36 / 70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ทำเครื่องหมายอ่านทั้งหมด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การแจ้งเตือน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3262884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2970276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POST  /api/notifications/read-all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7828" y="841248"/>
            <a:ext cx="7776667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ผู้ใช้กดอ่านทั้งหมด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ตรวจสิทธิ์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ปรับทุกรายการที่ยังไม่อ่าน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ล้างป้าย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กล่องแจ้งเตือน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(ปุ่มมุมขวาบน)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ยังไม่อ่าน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3 รายการ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การกระทำ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กดอ่านทั้งหมด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9254" y="2843784"/>
            <a:ext cx="1677924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9254" y="2843784"/>
            <a:ext cx="16779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ทำเครื่องหมายว่าอ่านแล้ว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NotificationController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(Read All Action)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ต้องเข้าสู่ระบบก่อนจึงจะเรียกได้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ไม่ต้องรับข้อมูลใดจากฟอร์ม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ส่งรหัสผู้ใช้จากโทเคนไปให้ Model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ส่งจำนวนรายการที่เปลี่ยนสถานะกลับไป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NotificationModel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ปรับเฉพาะรายการของบัญชีนั้นที่ยังไม่ถูกอ่าน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บันทึกเวลาที่อ่านลงไปในแต่ละรายการ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กดซ้ำได้โดยไม่เกิดผลเสีย เพราะรอบสองจะไม่เหลือรายการ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ปรับสถานะเป็นอ่านแล้ว (UPDATE)</a:t>
            </a:r>
          </a:p>
        </p:txBody>
      </p:sp>
      <p:sp>
        <p:nvSpPr>
          <p:cNvPr id="32" name="Can 31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จำนวนรายการที่ถูกปรับ</a:t>
            </a:r>
          </a:p>
        </p:txBody>
      </p:sp>
      <p:sp>
        <p:nvSpPr>
          <p:cNvPr id="35" name="Oval 34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38" name="Oval 37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กล่องแจ้งเตือนหลังกด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020824" y="4919472"/>
            <a:ext cx="412394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ทำเครื่องหมายว่าอ่านแล้วทั้งหมด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รายการที่เปลี่ยน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3 รายการ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ป้ายบนกระดิ่ง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หายไป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ประวัติ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ยังดูย้อนหลังได้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2" name="Oval 61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ผู้ใช้</a:t>
            </a:r>
          </a:p>
        </p:txBody>
      </p:sp>
      <p:cxnSp>
        <p:nvCxnSpPr>
          <p:cNvPr id="65" name="Connector 64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ผู้ใช้กดปุ่มอ่านทั้งหมดในกล่องแจ้งเตือน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ส่งรหัสผู้ใช้จากโทเคนไปให้ Model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ปรับเฉพาะรายการของบัญชีนั้นที่ยังไม่อ่าน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บันทึกเวลาที่อ่านลงในแต่ละรายการ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ล้างป้ายตัวเลขบนกระดิ่งทันที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ไม่ได้ลบรายการทิ้ง แค่บันทึกว่าอ่านแล้ว ผู้ใช้จึงย้อนดูแจ้งเตือนเก่าได้ตลอด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37 / 70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ทำเครื่องหมายอ่านทีละรายการ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การแจ้งเตือน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3262884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2970276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POST  /api/notifications/:id/read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7828" y="841248"/>
            <a:ext cx="7776667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ผู้ใช้กดที่แจ้งเตือน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ส่งรหัสรายการ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ปรับเฉพาะรายการนั้น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ลดตัวเลข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รายการในกล่องแจ้งเตือน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(กดที่ตัวรายการ)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หัวข้อ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ยืนยันการชำระเงินแล้ว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ลิงก์ไปที่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การจอง BK-3XM901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64" y="2843784"/>
            <a:ext cx="987504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64" y="2843784"/>
            <a:ext cx="98750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กดเพื่อเปิด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NotificationController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(Read Action)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ต้องเข้าสู่ระบบก่อนจึงจะเรียกได้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รับรหัสแจ้งเตือนจากที่อยู่ของคำขอ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ส่งรหัสผู้ใช้ไปด้วยเพื่อกันการแก้ของคนอื่น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NotificationModel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ปรับได้เฉพาะรายการที่เป็นของบัญชีนั้นจริง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รายการที่อ่านไปแล้วจะไม่ถูกเขียนทับเวลาอ่านเดิม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รหัสที่ไม่มีอยู่จริงก็ไม่ทำให้เกิดข้อผิดพลาด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ปรับสถานะรายการเดียว (UPDATE)</a:t>
            </a:r>
          </a:p>
        </p:txBody>
      </p:sp>
      <p:sp>
        <p:nvSpPr>
          <p:cNvPr id="32" name="Can 31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ยืนยันผล</a:t>
            </a:r>
          </a:p>
        </p:txBody>
      </p:sp>
      <p:sp>
        <p:nvSpPr>
          <p:cNvPr id="35" name="Oval 34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38" name="Oval 37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กล่องแจ้งเตือนและหน้าปลายทาง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020824" y="4919472"/>
            <a:ext cx="412394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อ่านแล้ว 1 รายการ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รายการนี้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เปลี่ยนเป็นอ่านแล้ว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ป้ายบนกระดิ่ง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ลดลง 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จากนั้น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พาไปหน้าการจองที่เกี่ยวข้อง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2" name="Oval 61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ผู้ใช้</a:t>
            </a:r>
          </a:p>
        </p:txBody>
      </p:sp>
      <p:cxnSp>
        <p:nvCxnSpPr>
          <p:cNvPr id="65" name="Connector 64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ผู้ใช้กดที่แจ้งเตือนรายการใดรายการหนึ่ง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ส่งรหัสรายการพร้อมรหัสผู้ใช้ให้ Model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ปรับเฉพาะรายการที่เป็นของบัญชีนั้น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ป้ายตัวเลขบนกระดิ่งลดลงหนึ่ง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พาไปหน้าการจองที่แจ้งเตือนนั้นอ้างถึง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เงื่อนไขการค้นรวมรหัสผู้ใช้ไว้ด้วย จึงกดอ่านแจ้งเตือนของคนอื่นไม่ได้แม้จะรู้รหัสรายการ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38 / 70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F1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606040"/>
            <a:ext cx="10058400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E7B9C0"/>
                </a:solidFill>
                <a:latin typeface="Consolas"/>
                <a:ea typeface="Consolas"/>
                <a:cs typeface="Consolas"/>
              </a:rPr>
              <a:t>/api/admin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035808"/>
            <a:ext cx="10058400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913632"/>
            <a:ext cx="100584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EBC6CB"/>
                </a:solidFill>
                <a:latin typeface="Leelawadee UI"/>
                <a:ea typeface="Leelawadee UI"/>
                <a:cs typeface="Leelawadee UI"/>
              </a:rPr>
              <a:t>31 endpoint · หลังบ้าน: จัดการข้อมูล ตรวจสลิป คืนเงิน และรายงาน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ภาพรวมหน้าแรกของผู้ดูแล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2453640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2161032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GET  /api/admin/overview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48584" y="841248"/>
            <a:ext cx="8585911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ผู้ดูแลเปิดหลังบ้าน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ตรวจบทบาท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สรุปตัวเลขของวัน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แสดงแดชบอร์ด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หน้าแรกหลังบ้าน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(โหลดข้อมูลอัตโนมัติ)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774192"/>
          </a:xfrm>
          <a:prstGeom prst="roundRect">
            <a:avLst>
              <a:gd name="adj" fmla="val 826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ช่วงเวลา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วันนี้ (เวลาไทย)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335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สิ่งที่ต้องการ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335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ตัวเลขสรุป + รายการล่าสุด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AdminController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(Overview Action)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ผ่านด่านตรวจว่าเข้าสู่ระบบและเป็นผู้ดูแลระบบ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ไม่ต้องรับข้อมูลใดจากฟอร์ม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เรียกใช้ Model แล้วส่งตัวเลขสรุปกลับไป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ReportModel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นับรายได้ จำนวนการจอง และจำนวนตั๋วของวันนี้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นับสลิปที่รอตรวจ และรายการที่รอโอนเงินคืน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นับรอบฉายของวันนี้ และการจองที่ยังค้างชำระ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ดึงการจองล่าสุด 8 รายการมาแสดงเป็นตาราง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นับและรวมยอดหลายตาราง (SELECT)</a:t>
            </a:r>
          </a:p>
        </p:txBody>
      </p:sp>
      <p:sp>
        <p:nvSpPr>
          <p:cNvPr id="30" name="Can 29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ตัวเลขสรุป + รายการล่าสุด</a:t>
            </a:r>
          </a:p>
        </p:txBody>
      </p:sp>
      <p:sp>
        <p:nvSpPr>
          <p:cNvPr id="33" name="Oval 32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36" name="Oval 35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แดชบอร์ดหลังบ้าน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020824" y="4919472"/>
            <a:ext cx="4123944" cy="1444752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สรุปข้อมูลของวันที่ 18 ก.ย. 2569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รายได้วันนี้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18,640 บาท · 42 การจอง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สลิปรอตรวจ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8 รายการ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รอโอนเงินคืน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2 รายการ · 880 บาท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6025896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รอบฉายวันนี้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6025896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15 รอบ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2" name="Oval 61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cxnSp>
        <p:nvCxnSpPr>
          <p:cNvPr id="65" name="Connector 64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ผู้ดูแลเปิดหน้าแรกของหลังบ้าน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ตรวจว่าเป็นบัญชีที่มีบทบาทผู้ดูแลระบบ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นับตัวเลขของวันนี้จากหลายตารางพร้อมกัน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ดึงการจองล่าสุดมาแสดงคู่กับตัวเลขสรุป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แสดงเป็นแดชบอร์ดให้เห็นงานค้างในหน้าเดียว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เงื่อนไขการนับงานค้างใช้ชุดเดียวกับป้ายตัวเลขบนเมนู ตัวเลขสองที่จึงตรงกันเสมอ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40 / 70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จำนวนงานค้างสำหรับป้ายบนเมนู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2813304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2520696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GET  /api/admin/queue-counts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08248" y="841248"/>
            <a:ext cx="8226247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หน้าหลังบ้านถามเป็นระยะ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ตรวจบทบาท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นับสองตัวเลข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แสดงป้ายบนเมนู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เมนูด้านข้างของหลังบ้าน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(ระบบถามซ้ำเป็นระยะ)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สิ่งที่ต้องการ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สลิปรอตรวจ + รอโอนคืน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ความถี่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ถี่กว่าหน้าภาพรวมมาก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AdminController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(Queue Counts Action)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ผ่านด่านตรวจบทบาทผู้ดูแลระบบเหมือนเส้นทางอื่น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ไม่ต้องรับข้อมูลใดจากฟอร์ม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เรียกใช้ Model แล้วส่งตัวเลขสองตัวกลับไป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ReportModel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นับเฉพาะสลิปที่กดอนุมัติหรือปฏิเสธได้จริง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นับรายการที่จ่ายเงินแล้วแต่ถูกยกเลิก จึงต้องโอนคืน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แยกออกมาจากหน้าภาพรวม เพราะถูกเรียกถี่กว่ามาก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ใช้เงื่อนไขชุดเดียวกับหน้าภาพรวม ตัวเลขจึงไม่ขัดกัน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นับสองรายการ (SELECT COUNT)</a:t>
            </a:r>
          </a:p>
        </p:txBody>
      </p:sp>
      <p:sp>
        <p:nvSpPr>
          <p:cNvPr id="30" name="Can 29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จำนวนสลิปรอตรวจ + รอโอนคืน</a:t>
            </a:r>
          </a:p>
        </p:txBody>
      </p:sp>
      <p:sp>
        <p:nvSpPr>
          <p:cNvPr id="33" name="Oval 32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36" name="Oval 35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เมนูด้านข้างพร้อมป้ายตัวเลข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020824" y="4919472"/>
            <a:ext cx="412394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มีงานค้าง 10 รายการ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ตรวจสลิป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คืนเงิน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การแสดงผล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ป้ายตัวเลขสีแดงบนเมนู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0" name="Oval 59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cxnSp>
        <p:nvCxnSpPr>
          <p:cNvPr id="63" name="Connector 62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หน้าหลังบ้านถามจำนวนงานค้างเป็นระยะโดยอัตโนมัติ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ตรวจบทบาทผู้ดูแลระบบก่อนทุกครั้ง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นับแค่สองตัวเลขให้เบาที่สุด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ใช้เงื่อนไขชุดเดียวกับหน้าภาพรวม ตัวเลขจึงตรงกัน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แสดงป้ายตัวเลขบนเมนู ผู้ดูแลเห็นงานค้างตลอดเวลา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แยกเส้นทางนี้ออกจากหน้าภาพรวมโดยตั้งใจ เพราะถูกเรียกถี่ ถ้ารวมกันจะดึงข้อมูลเกินจำเป็น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41 / 70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รายการภาพยนตร์ (หลังบ้าน)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2273808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1981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GET  /api/admin/movies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68752" y="841248"/>
            <a:ext cx="8765743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ผู้ดูแลเปิดหน้าจัดการหนัง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ตรวจบทบาท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ค้นรวมเรื่องในคลัง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แสดงตาราง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หน้าจัดการภาพยนตร์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(แถบค้นหาและตัวกรอง)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สถานะ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ทั้งหมด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คำค้น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อวตาร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38834" y="2843784"/>
            <a:ext cx="778764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38834" y="2843784"/>
            <a:ext cx="77876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ค้นหา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AdminMovieController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(Index Action)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ผ่านด่านตรวจบทบาทผู้ดูแลระบบ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รับตัวกรองสถานะและคำค้นจากแถบด้านบน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สั่งให้รวมเรื่องที่เก็บเข้าคลังมาด้วย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เรียกใช้ Model แล้วส่งรายการกลับไป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MovieModel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ใช้ตัวค้นตัวเดียวกับฝั่งผู้ชม ต่างที่ไม่ซ่อนเรื่องในคลัง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ค้นคำค้นทั้งชื่อไทยและชื่ออังกฤษ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เรียงตามสถานะ แล้วเรียงเรื่องใหม่ขึ้นก่อน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ค้นภาพยนตร์ทั้งหมด (SELECT)</a:t>
            </a:r>
          </a:p>
        </p:txBody>
      </p:sp>
      <p:sp>
        <p:nvSpPr>
          <p:cNvPr id="32" name="Can 31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รายการภาพยนตร์รวมที่เก็บเข้าคลัง</a:t>
            </a:r>
          </a:p>
        </p:txBody>
      </p:sp>
      <p:sp>
        <p:nvSpPr>
          <p:cNvPr id="35" name="Oval 34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38" name="Oval 37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ตารางจัดการภาพยนตร์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020824" y="4919472"/>
            <a:ext cx="412394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พบ 15 เรื่อง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กำลังฉาย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8 เรื่อง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เร็ว ๆ นี้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4 เรื่อง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เก็บเข้าคลัง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3 เรื่อง (ผู้ชมไม่เห็น)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2" name="Oval 61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cxnSp>
        <p:nvCxnSpPr>
          <p:cNvPr id="65" name="Connector 64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ผู้ดูแลเปิดหน้าจัดการภาพยนตร์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ตรวจบทบาทและรับตัวกรองจากแถบค้นหา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ค้นด้วยเงื่อนไขเดียวกับฝั่งผู้ชม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ต่างกันตรงที่รวมเรื่องที่เก็บเข้าคลังมาด้วย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แสดงตารางพร้อมปุ่มแก้ไขและลบในแต่ละแถว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ผู้ชมทั่วไปเรียกเส้นทางนี้ไม่ได้ เพราะด่านตรวจบทบาทกันไว้ตั้งแต่ก่อนเข้าถึง Controller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42 / 70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เพิ่มภาพยนตร์เรื่องใหม่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2363724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2071116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POST  /api/admin/movies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58668" y="841248"/>
            <a:ext cx="8675827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ผู้ดูแลกรอกข้อมูลหนัง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ตรวจทุกช่อง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บันทึกเรื่องใหม่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แสดงในตาราง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ฟอร์มเพิ่มภาพยนตร์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(หน้าแบบฟอร์ม)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499616"/>
          </a:xfrm>
          <a:prstGeom prst="roundRect">
            <a:avLst>
              <a:gd name="adj" fmla="val 4268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ชื่อไทย / อังกฤษ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อวตาร ภาค 3 / Avatar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ความยาว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160 นาที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2788920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โปสเตอร์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5336" y="2788920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ลิงก์รูปภาพ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3026664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สถานะ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45336" y="3026664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กำลังฉาย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33868" y="3319272"/>
            <a:ext cx="1188696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33868" y="3319272"/>
            <a:ext cx="1188696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บันทึกเรื่องใหม่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AdminMovieController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(Create Action)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ผ่านด่านตรวจบทบาทผู้ดูแลระบบ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ตรวจว่ากรอกชื่อทั้งสองภาษาและลิงก์โปสเตอร์ถูกต้อง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ตรวจว่าความยาวอยู่ระหว่าง 30 ถึง 400 นาที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แปลงลิงก์ภาพพื้นหลังที่เว้นว่างเป็นค่าว่างจริง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MovieModel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บันทึกเรื่องใหม่ลงฐานข้อมูลตามข้อมูลที่ตรวจแล้ว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เก็บชื่อและเรื่องย่อไว้ทั้งไทยและอังกฤษ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เรื่องใหม่ยังไม่มีรอบฉาย ต้องไปสร้างรอบต่ออีกที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เพิ่มภาพยนตร์ (INSERT)</a:t>
            </a:r>
          </a:p>
        </p:txBody>
      </p:sp>
      <p:sp>
        <p:nvSpPr>
          <p:cNvPr id="36" name="Can 35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ข้อมูลเรื่องที่เพิ่งสร้าง</a:t>
            </a:r>
          </a:p>
        </p:txBody>
      </p:sp>
      <p:sp>
        <p:nvSpPr>
          <p:cNvPr id="39" name="Oval 38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42" name="Oval 41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6" name="Connector 45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ตารางภาพยนตร์หลังเพิ่ม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020824" y="4919472"/>
            <a:ext cx="412394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เพิ่มภาพยนตร์เรียบร้อย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ชื่อเรื่อง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อวตาร ภาค 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สถานะ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กำลังฉาย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รอบฉาย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ยังไม่มี — สร้างรอบต่อได้เลย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6" name="Oval 65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cxnSp>
        <p:nvCxnSpPr>
          <p:cNvPr id="69" name="Connector 68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ผู้ดูแลกรอกข้อมูลภาพยนตร์ในฟอร์มแล้วกดบันทึก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ตรวจทุกช่อง รวมถึงลิงก์รูปและความยาว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บันทึกเรื่องใหม่พร้อมข้อมูลสองภาษา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ระบบคืนข้อมูลเรื่องที่เพิ่งสร้างกลับมา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เพิ่มแถวใหม่ในตารางทันที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เรื่องที่เพิ่งเพิ่มยังไม่มีรอบฉาย ผู้ชมจึงเห็นเรื่องแต่ยังกดจองไม่ได้จนกว่าจะสร้างรอบ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43 / 70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แก้ไขข้อมูลภาพยนตร์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2813304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2520696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B45309"/>
                </a:solidFill>
                <a:latin typeface="Consolas"/>
                <a:ea typeface="Consolas"/>
                <a:cs typeface="Consolas"/>
              </a:rPr>
              <a:t>PATCH  /api/admin/movies/:id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08248" y="841248"/>
            <a:ext cx="8226247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ผู้ดูแลแก้ข้อมูล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ตรวจเฉพาะช่องที่แก้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บันทึกทับ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แสดงค่าใหม่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ฟอร์มแก้ไขภาพยนตร์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(หน้าแบบฟอร์ม)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เรื่อง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อวตาร ภาค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ช่องที่แก้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สถานะ · เรื่องย่อ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2788920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สถานะใหม่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5336" y="2788920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เก็บเข้าคลัง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13282" y="3081528"/>
            <a:ext cx="1229868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3282" y="3081528"/>
            <a:ext cx="122986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บันทึกการแก้ไข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AdminMovieController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(Update Action)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ผ่านด่านตรวจบทบาทผู้ดูแลระบบ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รับรหัสเรื่องจากที่อยู่ของคำขอ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ตรวจเฉพาะช่องที่ส่งมา ไม่บังคับให้ส่งครบทุกช่อง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เรียกใช้ Model แล้วส่งข้อมูลใหม่กลับไป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MovieModel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ตรวจก่อนว่ามีเรื่องนี้อยู่จริง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บันทึกทับเฉพาะช่องที่ส่งมา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เปลี่ยนสถานะเป็นเก็บเข้าคลังได้ ผู้ชมจะไม่เห็นเรื่องนั้น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รอบฉายที่สร้างไว้แล้วยังอยู่ ไม่ได้ถูกลบตาม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ปรับข้อมูลภาพยนตร์ (UPDATE)</a:t>
            </a:r>
          </a:p>
        </p:txBody>
      </p:sp>
      <p:sp>
        <p:nvSpPr>
          <p:cNvPr id="34" name="Can 33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ข้อมูลเรื่องหลังแก้ไข</a:t>
            </a:r>
          </a:p>
        </p:txBody>
      </p:sp>
      <p:sp>
        <p:nvSpPr>
          <p:cNvPr id="37" name="Oval 36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40" name="Oval 39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ตารางภาพยนตร์หลังแก้ไข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020824" y="4919472"/>
            <a:ext cx="412394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บันทึกการแก้ไขเรียบร้อย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ชื่อเรื่อง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อวตาร ภาค 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สถานะใหม่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เก็บเข้าคลัง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ฝั่งผู้ชม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ไม่แสดงในหน้าแรกแล้ว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4" name="Oval 63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cxnSp>
        <p:nvCxnSpPr>
          <p:cNvPr id="67" name="Connector 66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ผู้ดูแลเปิดฟอร์มแก้ไขแล้วเปลี่ยนเฉพาะช่องที่ต้องการ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ตรวจรูปแบบเฉพาะช่องที่ส่งมา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ตรวจว่าเรื่องนี้มีอยู่จริง แล้วบันทึกทับ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การเปลี่ยนสถานะเป็นเก็บเข้าคลังจะซ่อนเรื่องจากผู้ชม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แสดงค่าใหม่ในตารางทันที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เก็บเข้าคลังเป็นวิธีซ่อนเรื่องโดยไม่ลบข้อมูล ประวัติการจองของลูกค้าจึงยังอยู่ครบ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44 / 70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ลบภาพยนตร์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2903220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2610612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B42318"/>
                </a:solidFill>
                <a:latin typeface="Consolas"/>
                <a:ea typeface="Consolas"/>
                <a:cs typeface="Consolas"/>
              </a:rPr>
              <a:t>DELETE  /api/admin/movies/:id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8164" y="841248"/>
            <a:ext cx="8136331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ผู้ดูแลกดลบ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ส่งรหัสเรื่อง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นับการจองก่อนตัดสิน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เตือนหรือลบให้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กล่องยืนยันการลบ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(หน้ายืนยัน)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เรื่อง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อวตาร ภาค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การจองที่มีอยู่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42 รายการ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2788920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ยืนยันลบถาวร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5336" y="2788920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ยังไม่ติ๊ก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71028" y="3081528"/>
            <a:ext cx="914376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71028" y="3081528"/>
            <a:ext cx="914376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ลบเรื่องนี้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AdminMovieController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(Delete Action)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ผ่านด่านตรวจบทบาทผู้ดูแลระบบ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รับรหัสเรื่องจากที่อยู่ของคำขอ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รับธงยืนยันว่ายอมให้ลบถาวรจริงหรือไม่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ส่งผลการลบพร้อมจำนวนที่กระทบกลับไป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MovieModel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นับก่อนว่าเรื่องนี้มีรอบฉายและการจองอยู่เท่าไร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ถ้ามีการจองและยังไม่ยืนยัน จะไม่ลบ แต่บอกจำนวนที่กระทบ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ยืนยันแล้วจึงลบ รอบฉายและการจองจะถูกลบตามไปด้วย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ทางเลือกที่ปลอดภัยกว่าคือเปลี่ยนเป็นเก็บเข้าคลัง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นับแล้วจึงลบแบบต่อเนื่อง (COUNT + DELETE)</a:t>
            </a:r>
          </a:p>
        </p:txBody>
      </p:sp>
      <p:sp>
        <p:nvSpPr>
          <p:cNvPr id="34" name="Can 33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ผลการลบ + จำนวนที่กระทบ</a:t>
            </a:r>
          </a:p>
        </p:txBody>
      </p:sp>
      <p:sp>
        <p:nvSpPr>
          <p:cNvPr id="37" name="Oval 36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40" name="Oval 39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กล่องเตือนก่อนลบถาวร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020824" y="4919472"/>
            <a:ext cx="412394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E0E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ลบไม่ได้ทันที — เรื่องนี้มีการจองอยู่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การจองที่จะหายไป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42 รายการ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รอบฉายที่จะหายไป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15 รอบ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ทางเลือก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เก็บเข้าคลังแทนการลบถาวร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4" name="Oval 63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cxnSp>
        <p:nvCxnSpPr>
          <p:cNvPr id="67" name="Connector 66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86016" y="4681728"/>
            <a:ext cx="4599432" cy="11948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ผู้ดูแลกดลบภาพยนตร์จากตาราง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ส่งรหัสเรื่องและธงยืนยันให้ Model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นับรอบฉายและการจองที่ผูกกับเรื่องนี้ก่อน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ถ้ามีการจองอยู่และยังไม่ยืนยัน ระบบจะไม่ลบและบอกเหตุผล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แสดงผลกระทบเป็นตัวเลข ให้ผู้ดูแลเลือกทางต่อ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986016" y="5876544"/>
            <a:ext cx="4599432" cy="432816"/>
          </a:xfrm>
          <a:prstGeom prst="roundRect">
            <a:avLst>
              <a:gd name="adj" fmla="val 12676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68312" y="5931408"/>
            <a:ext cx="4434840" cy="323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เดิมระบบเปลี่ยนเป็นเก็บเข้าคลังให้เงียบ ๆ ผู้ดูแลกดลบเท่าไรก็ไม่เกิดอะไร ตอนนี้บอกเหตุผลตรง ๆ แทน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45 / 70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รายการโรงภาพยนตร์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2453640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2161032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GET  /api/admin/theatres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48584" y="841248"/>
            <a:ext cx="8585911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ผู้ดูแลเปิดหน้าจัดการโรง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ตรวจบทบาท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นับที่นั่งและรอบฉาย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แสดงตาราง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หน้าจัดการโรงภาพยนตร์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(โหลดข้อมูลอัตโนมัติ)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สิ่งที่ต้องการ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รายชื่อโรงทั้งหมด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ข้อมูลประกอบ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จำนวนที่นั่ง + รอบฉาย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AdminTheatreController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(Index Action)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ผ่านด่านตรวจบทบาทผู้ดูแลระบบ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ไม่ต้องรับตัวกรองใดจากฟอร์ม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เรียกใช้ Model แล้วส่งรายการโรงกลับไป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TheatreModel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อ่านรายชื่อโรงเรียงตามชื่อ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นับจำนวนที่นั่งและจำนวนรอบฉายของแต่ละโรง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คืนขนาดผัง (จำนวนแถว x จำนวนที่นั่งต่อแถว) มาด้วย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อ่านโรงพร้อมยอดนับ (SELECT)</a:t>
            </a:r>
          </a:p>
        </p:txBody>
      </p:sp>
      <p:sp>
        <p:nvSpPr>
          <p:cNvPr id="30" name="Can 29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รายการโรง + จำนวนที่นั่งและรอบ</a:t>
            </a:r>
          </a:p>
        </p:txBody>
      </p:sp>
      <p:sp>
        <p:nvSpPr>
          <p:cNvPr id="33" name="Oval 32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36" name="Oval 35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ตารางจัดการโรงภาพยนตร์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020824" y="4919472"/>
            <a:ext cx="412394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พบ 4 โรง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โรง 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2D · 120 ที่นั่ง · 38 รอบ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โรง 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3D · 96 ที่นั่ง · 24 รอบ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สถานะ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เปิดใช้งานทั้งหมด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0" name="Oval 59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cxnSp>
        <p:nvCxnSpPr>
          <p:cNvPr id="63" name="Connector 62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ผู้ดูแลเปิดหน้าจัดการโรงภาพยนตร์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ตรวจบทบาทแล้วเรียกใช้ Model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อ่านรายชื่อโรงพร้อมนับที่นั่งและรอบฉาย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คืนขนาดผังของแต่ละโรงมาด้วย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แสดงตารางพร้อมปุ่มแก้ผังและลบโรง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จำนวนรอบฉายที่นับมาช่วยให้เห็นทันทีว่าโรงไหนแก้ผังไม่ได้แล้วเพราะมีการใช้งานอยู่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46 / 70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ผังที่นั่งของโรง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2813304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2520696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GET  /api/admin/theatres/:id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08248" y="841248"/>
            <a:ext cx="8226247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ผู้ดูแลกดแก้ผัง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ส่งรหัสโรง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จัดที่นั่งเป็นแถว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วาดผังให้แก้ไข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หน้าจัดการโรง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(ปุ่มแก้ไขผังที่นั่ง)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โรงที่เลือก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โรง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ขนาดผัง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10 แถว x 12 ที่นั่ง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4910" y="2843784"/>
            <a:ext cx="1086612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4910" y="2843784"/>
            <a:ext cx="10866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แก้ไขผังที่นั่ง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AdminTheatreController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(Show Action)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ผ่านด่านตรวจบทบาทผู้ดูแลระบบ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รับรหัสโรงจากที่อยู่ของคำขอ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ไม่พบโรงนี้จะตอบว่าไม่พบข้อมูล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TheatreModel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อ่านที่นั่งทั้งหมดของโรง เรียงตามแถวและหมายเลข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จัดกลุ่มที่นั่งเป็นแถว A B C ให้พร้อมวาด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คืนโซนและสถานะเปิด-ปิดของแต่ละที่นั่ง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อ่านโรงและที่นั่งทั้งหมด (SELECT)</a:t>
            </a:r>
          </a:p>
        </p:txBody>
      </p:sp>
      <p:sp>
        <p:nvSpPr>
          <p:cNvPr id="32" name="Can 31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ผังที่นั่งจัดเป็นแถวแล้ว</a:t>
            </a:r>
          </a:p>
        </p:txBody>
      </p:sp>
      <p:sp>
        <p:nvSpPr>
          <p:cNvPr id="35" name="Oval 34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38" name="Oval 37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ตัวแก้ไขผังที่นั่ง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020824" y="4919472"/>
            <a:ext cx="412394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ผังพร้อมแก้ไข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แถว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A ถึง J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โซน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ธรรมดา · พรีเมียม · โซฟา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ที่นั่งปิดใช้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2 ที่ (ทางเดิน)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2" name="Oval 61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cxnSp>
        <p:nvCxnSpPr>
          <p:cNvPr id="65" name="Connector 64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86016" y="4681728"/>
            <a:ext cx="4599432" cy="11948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ผู้ดูแลกดแก้ไขผังที่นั่งของโรงที่เลือก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ส่งรหัสโรงให้ Model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อ่านที่นั่งทั้งหมดและจัดกลุ่มเป็นแถว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คืนโซนและสถานะเปิด-ปิดของแต่ละที่นั่ง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วาดผังให้กดเลือกที่นั่งเพื่อแก้ไขทีละหลายที่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986016" y="5876544"/>
            <a:ext cx="4599432" cy="432816"/>
          </a:xfrm>
          <a:prstGeom prst="roundRect">
            <a:avLst>
              <a:gd name="adj" fmla="val 12676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68312" y="5931408"/>
            <a:ext cx="4434840" cy="323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โซนมาตรฐานถูกสร้างอัตโนมัติตอนสร้างโรง แถวหน้าเป็นธรรมดา ถัดมาพรีเมียม แถวหลังสุดเป็นโซฟา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47 / 70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สร้างโรงภาพยนตร์ใหม่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2543556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2250948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POST  /api/admin/theatres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38500" y="841248"/>
            <a:ext cx="8495995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ผู้ดูแลกรอกขนาดผัง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ตรวจจำนวนแถว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สร้างโรงพร้อมที่นั่ง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แสดงผัง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ฟอร์มสร้างโรงใหม่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(หน้าแบบฟอร์ม)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499616"/>
          </a:xfrm>
          <a:prstGeom prst="roundRect">
            <a:avLst>
              <a:gd name="adj" fmla="val 4268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ชื่อโรง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โรง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ระบบฉาย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4DX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2788920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จำนวนแถว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5336" y="2788920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10 แถว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3026664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ที่นั่งต่อแถว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45336" y="3026664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12 ที่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84732" y="3319272"/>
            <a:ext cx="886968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4732" y="3319272"/>
            <a:ext cx="88696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สร้างโรง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AdminTheatreController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(Create Action)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ผ่านด่านตรวจบทบาทผู้ดูแลระบบ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ตรวจว่าจำนวนแถวอยู่ระหว่าง 1 ถึง 26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ตรวจว่าที่นั่งต่อแถวอยู่ระหว่าง 1 ถึง 30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เรียกใช้ Model แล้วส่งผังที่สร้างเสร็จกลับไป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TheatreModel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สร้างโรงพร้อมที่นั่งทั้งผังในรายการเดียว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ตั้งชื่อแถวเป็น A B C ไล่ไปตามจำนวนแถว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แบ่งโซนอัตโนมัติ: หน้าธรรมดา กลางพรีเมียม หลังโซฟา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แถวโซฟาเป็นที่นั่งคู่ จึงมีจำนวนต่อแถวครึ่งเดียว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สร้างโรงและที่นั่งทั้งผัง (INSERT)</a:t>
            </a:r>
          </a:p>
        </p:txBody>
      </p:sp>
      <p:sp>
        <p:nvSpPr>
          <p:cNvPr id="36" name="Can 35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โรงใหม่พร้อมผังที่นั่ง</a:t>
            </a:r>
          </a:p>
        </p:txBody>
      </p:sp>
      <p:sp>
        <p:nvSpPr>
          <p:cNvPr id="39" name="Oval 38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42" name="Oval 41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6" name="Connector 45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ผังของโรงที่เพิ่งสร้าง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020824" y="4919472"/>
            <a:ext cx="412394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สร้างโรงเรียบร้อย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ชื่อโรง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โรง 5 · ระบบ 4DX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ที่นั่งทั้งหมด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114 ที่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แถวโซฟา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แถว J · 6 ที่นั่งคู่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6" name="Oval 65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cxnSp>
        <p:nvCxnSpPr>
          <p:cNvPr id="69" name="Connector 68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ผู้ดูแลกรอกชื่อโรงและขนาดผังแล้วกดสร้าง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ตรวจว่าจำนวนแถวและที่นั่งอยู่ในช่วงที่รองรับ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สร้างโรงพร้อมที่นั่งทั้งผังในรายการเดียวกัน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ระบบแบ่งโซนให้อัตโนมัติตามตำแหน่งของแถว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แสดงผังที่สร้างเสร็จให้ตรวจและปรับต่อได้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แบ่งโซนอัตโนมัติเลียนแบบผังโรงจริง ถ้าไม่ตรงกับหน้างาน แก้ทีหลังได้ที่หน้าแก้ผัง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48 / 70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แก้ไขข้อมูลโรงภาพยนตร์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2993136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2700528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B45309"/>
                </a:solidFill>
                <a:latin typeface="Consolas"/>
                <a:ea typeface="Consolas"/>
                <a:cs typeface="Consolas"/>
              </a:rPr>
              <a:t>PATCH  /api/admin/theatres/:id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88080" y="841248"/>
            <a:ext cx="8046415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ผู้ดูแลแก้ชื่อหรือขนาดผัง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ตรวจข้อมูล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ตรวจการจองก่อนแก้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แสดงผล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ฟอร์มแก้ไขโรง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(หน้าแบบฟอร์ม)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โรง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โรง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ชื่อใหม่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โรง 1 (ปรับปรุงใหม่)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2788920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ขนาดผังใหม่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5336" y="2788920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12 แถว x 14 ที่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13282" y="3081528"/>
            <a:ext cx="1229868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3282" y="3081528"/>
            <a:ext cx="122986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บันทึกการแก้ไข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AdminTheatreController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(Update Action)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ผ่านด่านตรวจบทบาทผู้ดูแลระบบ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รับรหัสโรงจากที่อยู่ของคำขอ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ตรวจเฉพาะช่องที่ส่งมา ไม่บังคับส่งครบทุกช่อง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เรียกใช้ Model แล้วส่งผังล่าสุดกลับไป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TheatreModel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แก้ชื่อหรือระบบฉายได้เสมอ ไม่กระทบที่นั่ง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เปลี่ยนขนาดผังไม่ได้ถ้ายังมีที่นั่งที่ถูกจองอยู่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ถ้าเปลี่ยนขนาดได้ จะลบผังเดิมแล้วสร้างผังใหม่ทั้งผืน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ตรวจช่วงของจำนวนแถวและที่นั่งอีกครั้งก่อนสร้าง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ปรับข้อมูลโรงและสร้างผังใหม่ (UPDATE / DELETE + INSERT)</a:t>
            </a:r>
          </a:p>
        </p:txBody>
      </p:sp>
      <p:sp>
        <p:nvSpPr>
          <p:cNvPr id="34" name="Can 33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ผังล่าสุดของโรง</a:t>
            </a:r>
          </a:p>
        </p:txBody>
      </p:sp>
      <p:sp>
        <p:nvSpPr>
          <p:cNvPr id="37" name="Oval 36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40" name="Oval 39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ตารางโรงหลังแก้ไข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020824" y="4919472"/>
            <a:ext cx="412394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บันทึกการแก้ไขเรียบร้อย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ชื่อโรง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โรง 1 (ปรับปรุงใหม่)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ขนาดผัง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12 แถว x 14 ที่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ที่นั่งทั้งหมด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161 ที่ (สร้างใหม่)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4" name="Oval 63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cxnSp>
        <p:nvCxnSpPr>
          <p:cNvPr id="67" name="Connector 66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ผู้ดูแลแก้ชื่อโรงหรือขนาดผังแล้วกดบันทึก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ตรวจเฉพาะช่องที่ส่งมา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ตรวจก่อนว่ามีที่นั่งที่ถูกจองอยู่หรือไม่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ถ้าไม่มี จึงลบผังเดิมแล้วสร้างผังใหม่ทั้งผืน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แสดงผังใหม่และจำนวนที่นั่งที่เปลี่ยนไป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เปลี่ยนขนาดผังจะสร้างที่นั่งชุดใหม่ทั้งหมด ระบบจึงห้ามทำเมื่อมีที่นั่งที่ถูกจองอยู่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49 / 70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ลบโรงภาพยนตร์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3083052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279044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B42318"/>
                </a:solidFill>
                <a:latin typeface="Consolas"/>
                <a:ea typeface="Consolas"/>
                <a:cs typeface="Consolas"/>
              </a:rPr>
              <a:t>DELETE  /api/admin/theatres/:id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77996" y="841248"/>
            <a:ext cx="7956499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ผู้ดูแลกดลบโรง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ส่งรหัสโรง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ตรวจว่ามีการจองไหม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แจ้งผล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กล่องยืนยันการลบโรง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(หน้ายืนยัน)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โรง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โรง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ที่นั่งที่ถูกจองอยู่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0 ที่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95400" y="2843784"/>
            <a:ext cx="865632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95400" y="2843784"/>
            <a:ext cx="8656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ลบโรงนี้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AdminTheatreController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(Delete Action)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ผ่านด่านตรวจบทบาทผู้ดูแลระบบ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รับรหัสโรงจากที่อยู่ของคำขอ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เรียกใช้ Model แล้วตอบผลสำเร็จกลับไป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TheatreModel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นับก่อนว่ามีที่นั่งของโรงนี้ที่ถูกจองอยู่หรือไม่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ถ้ามี จะไม่ลบและบอกว่าโรงนี้มีการจองอยู่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ถ้าไม่มี จึงลบโรงพร้อมที่นั่งทั้งผัง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ตรวจแล้วจึงลบ (COUNT + DELETE)</a:t>
            </a:r>
          </a:p>
        </p:txBody>
      </p:sp>
      <p:sp>
        <p:nvSpPr>
          <p:cNvPr id="32" name="Can 31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ผลการลบ</a:t>
            </a:r>
          </a:p>
        </p:txBody>
      </p:sp>
      <p:sp>
        <p:nvSpPr>
          <p:cNvPr id="35" name="Oval 34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38" name="Oval 37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ตารางโรงหลังลบ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020824" y="4919472"/>
            <a:ext cx="412394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ลบโรงเรียบร้อย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โรงที่เหลือ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4 โรง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ที่นั่งของโรงนั้น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ถูกลบตามไปด้วย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รอบฉายเก่า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ต้องจัดการก่อนจึงจะลบได้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2" name="Oval 61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cxnSp>
        <p:nvCxnSpPr>
          <p:cNvPr id="65" name="Connector 64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ผู้ดูแลกดลบโรงที่ไม่ได้ใช้แล้ว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ส่งรหัสโรงให้ Model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นับที่นั่งของโรงนี้ที่ยังถูกจองอยู่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มีการจองอยู่จะไม่ลบ และบอกเหตุผลกลับไป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แจ้งผลและปรับตารางให้ตรงกับข้อมูลล่าสุด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กันไม่ให้ลบโรงที่ยังมีคนจอง เพราะที่นั่งที่ลูกค้าจองไว้จะหายไปพร้อมโรง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50 / 70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แก้โซนและเปิด-ปิดที่นั่ง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3532632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324002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B45309"/>
                </a:solidFill>
                <a:latin typeface="Consolas"/>
                <a:ea typeface="Consolas"/>
                <a:cs typeface="Consolas"/>
              </a:rPr>
              <a:t>PATCH  /api/admin/theatres/:id/seats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27576" y="841248"/>
            <a:ext cx="7506919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ผู้ดูแลเลือกที่นั่งหลายที่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ตรวจว่าระบุอะไรมา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ปรับทีเดียว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วาดผังใหม่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ตัวแก้ไขผังที่นั่ง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(เลือกได้ทีละหลายที่)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ที่นั่งที่เลือก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J1 ถึง J6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เปลี่ยนโซนเป็น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โซฟา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2788920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สถานะการใช้งาน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5336" y="2788920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เปิดใช้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79754" y="3081528"/>
            <a:ext cx="1296924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9754" y="3081528"/>
            <a:ext cx="12969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บันทึกที่นั่งที่เลือก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AdminTheatreController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(Update Seats Action)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ผ่านด่านตรวจบทบาทผู้ดูแลระบบ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รับรหัสโรงและรายการรหัสที่นั่งที่เลือก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บังคับให้ระบุโซนหรือสถานะอย่างน้อยหนึ่งอย่าง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ส่งจำนวนที่แก้และผังล่าสุดกลับไปพร้อมกัน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SeatModel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ปรับเฉพาะที่นั่งที่อยู่ในโรงนั้นจริง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แก้ได้ทีละหลายที่ในคำสั่งเดียว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ที่นั่งที่ปิดใช้จะไม่ปรากฏบนผังฝั่งผู้ชม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คืนจำนวนที่นั่งที่ถูกแก้จริงกลับไป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ปรับที่นั่งหลายรายการ (UPDATE)</a:t>
            </a:r>
          </a:p>
        </p:txBody>
      </p:sp>
      <p:sp>
        <p:nvSpPr>
          <p:cNvPr id="34" name="Can 33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จำนวนที่แก้ + ผังล่าสุด</a:t>
            </a:r>
          </a:p>
        </p:txBody>
      </p:sp>
      <p:sp>
        <p:nvSpPr>
          <p:cNvPr id="37" name="Oval 36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40" name="Oval 39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ผังที่นั่งหลังแก้ไข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020824" y="4919472"/>
            <a:ext cx="412394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แก้ไขที่นั่ง 6 ที่เรียบร้อย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แถว J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เปลี่ยนเป็นโซนโซฟา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ราคาที่จะใช้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ตามราคาโซนโซฟาของแต่ละรอบ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ผัง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วาดใหม่ตามค่าที่บันทึก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4" name="Oval 63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cxnSp>
        <p:nvCxnSpPr>
          <p:cNvPr id="67" name="Connector 66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ผู้ดูแลลากเลือกที่นั่งหลายที่บนตัวแก้ไขผัง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บังคับให้ระบุโซนหรือสถานะอย่างน้อยหนึ่งอย่าง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ปรับเฉพาะที่นั่งที่อยู่ในโรงนั้นจริง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คืนจำนวนที่แก้พร้อมผังล่าสุดในคำตอบเดียว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วาดผังใหม่ให้เห็นผลทันทีโดยไม่ต้องโหลดหน้า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ที่นั่งที่ปิดใช้จะไม่ขึ้นบนผังฝั่งผู้ชม ใช้กับตำแหน่งที่จริง ๆ เป็นทางเดินหรือที่นั่งชำรุด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51 / 70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รายการรอบฉาย (หลังบ้าน)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2543556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2250948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GET  /api/admin/showtimes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38500" y="841248"/>
            <a:ext cx="8495995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ผู้ดูแลเปิดหน้าจัดรอบ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ตรวจบทบาท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ค้นรวมรอบที่ผ่านไปแล้ว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แสดงตาราง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หน้าจัดการรอบฉาย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(ตัวกรองด้านบน)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ภาพยนตร์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ทั้งหมด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โรง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โรง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2788920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วันที่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5336" y="2788920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2026-09-20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60526" y="3081528"/>
            <a:ext cx="1135380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60526" y="3081528"/>
            <a:ext cx="113538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แสดงรอบฉาย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AdminShowtimeController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(Index Action)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ผ่านด่านตรวจบทบาทผู้ดูแลระบบ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รับตัวกรองภาพยนตร์ โรง และวันที่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ตั้งค่าให้รวมรอบที่ผ่านไปแล้วเป็นค่าเริ่มต้น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เรียกใช้ Model แล้วส่งรายการรอบกลับไป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ShowtimeModel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ใช้ตัวค้นตัวเดียวกับฝั่งผู้ชม แต่ไม่ตัดรอบที่ผ่านไปแล้ว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นับช่วงของวันตามเวลาประเทศไทย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นับที่นั่งที่ถูกยึดของแต่ละรอบมาให้ด้วย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เรียงตามเวลาเริ่มฉายจากเช้าไปเย็น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ค้นรอบฉายตามตัวกรอง (SELECT)</a:t>
            </a:r>
          </a:p>
        </p:txBody>
      </p:sp>
      <p:sp>
        <p:nvSpPr>
          <p:cNvPr id="34" name="Can 33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รายการรอบ + ยอดที่นั่งที่ขายได้</a:t>
            </a:r>
          </a:p>
        </p:txBody>
      </p:sp>
      <p:sp>
        <p:nvSpPr>
          <p:cNvPr id="37" name="Oval 36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40" name="Oval 39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ตารางจัดการรอบฉาย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020824" y="4919472"/>
            <a:ext cx="412394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พบ 15 รอบในวันที่เลือก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11:00 น.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อวตาร ภาค 3 · ขายแล้ว 28/120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14:20 น.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อวตาร ภาค 3 · ขายแล้ว 64/120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รอบที่ผ่านไปแล้ว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แสดงด้วย เพื่อดูย้อนหลังได้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4" name="Oval 63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cxnSp>
        <p:nvCxnSpPr>
          <p:cNvPr id="67" name="Connector 66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ผู้ดูแลเปิดหน้าจัดการรอบฉายและเลือกตัวกรอง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ตั้งให้รวมรอบที่ผ่านไปแล้วเป็นค่าเริ่มต้น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ค้นด้วยเงื่อนไขเดียวกับฝั่งผู้ชม แต่ไม่ตัดรอบเก่า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คืนจำนวนที่นั่งที่ขายได้ของแต่ละรอบมาด้วย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แสดงตารางพร้อมปุ่มแก้ไขและลบรอบ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ฝั่งผู้ชมตัดรอบที่เริ่มไปแล้วออก แต่หลังบ้านต้องเห็น เพื่อตรวจยอดขายย้อนหลังได้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52 / 70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ช่วงเวลาว่างของโรง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3712464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3419856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GET  /api/admin/showtimes/availability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07408" y="841248"/>
            <a:ext cx="7327087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ผู้ดูแลเลือกโรงและวัน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ตรวจตัวกรอง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คิดช่องเวลาที่ลงได้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แสดงตัวเลือก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ฟอร์มเพิ่มรอบฉาย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(ช่วงเลือกเวลา)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โรง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โรง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ภาพยนตร์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อวตาร ภาค 3 (160 นาที)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2788920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วันที่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5336" y="2788920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2026-09-20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20152" y="3081528"/>
            <a:ext cx="1216128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20152" y="3081528"/>
            <a:ext cx="121612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ดูช่วงเวลาที่ว่าง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AdminShowtimeController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(Availability Action)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ผ่านด่านตรวจบทบาทผู้ดูแลระบบ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บังคับให้ส่งโรง ภาพยนตร์ และวันที่มาครบ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รับรหัสรอบที่ต้องการยกเว้น กรณีกำลังแก้ไขรอบเดิม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เรียกใช้ Model แล้วส่งช่องเวลาที่ว่างกลับไป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ShowtimeModel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โรงเปิดให้จัดรอบตั้งแต่ 10:00 ถึงเที่ยงคืน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ไล่ดูช่องเวลาทีละ 15 นาที ตลอดช่วงเปิดทำการ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ใช้ความยาวหนังจริง และเว้นเวลาทำความสะอาด 15 นาที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ตัดช่องที่ชนกับรอบอื่นและช่องที่เลยเวลาปัจจุบันออก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อ่านหนังและรอบในวันนั้น (SELECT)</a:t>
            </a:r>
          </a:p>
        </p:txBody>
      </p:sp>
      <p:sp>
        <p:nvSpPr>
          <p:cNvPr id="34" name="Can 33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ช่วงเวลาที่ว่าง + รอบที่จองเวลาไว้แล้ว</a:t>
            </a:r>
          </a:p>
        </p:txBody>
      </p:sp>
      <p:sp>
        <p:nvSpPr>
          <p:cNvPr id="37" name="Oval 36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40" name="Oval 39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ตัวเลือกเวลาในฟอร์มเพิ่มรอบ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020824" y="4919472"/>
            <a:ext cx="412394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พบช่วงเวลาที่ลงรอบได้ 6 ช่วง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ช่วงที่ว่าง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10:00 · 13:00 · 16:15 · 19:30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รอบที่จองเวลาไว้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11:00 - 13:40 (อวตาร ภาค 3)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เว้นระหว่างรอบ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อย่างน้อย 15 นาที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4" name="Oval 63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cxnSp>
        <p:nvCxnSpPr>
          <p:cNvPr id="67" name="Connector 66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ผู้ดูแลเลือกโรง ภาพยนตร์ และวันที่บนฟอร์มเพิ่มรอบ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บังคับให้ส่งข้อมูลมาครบทั้งสามอย่าง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ไล่ช่องเวลาทีละ 15 นาทีตลอดช่วงเปิดทำการ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ตัดช่องที่ชนกับรอบอื่นออก โดยเว้นเวลาทำความสะอาด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แสดงเฉพาะเวลาที่ลงรอบได้จริง ให้กดเลือกได้เลย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ให้ฝั่งเซิร์ฟเวอร์เป็นคนคิดกฎนี้ หน้าเว็บจะได้ไม่เขียนกฎซ้ำแล้วหลุดจากกันภายหลัง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53 / 70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เพิ่มรอบฉายใหม่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2633472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234086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POST  /api/admin/showtimes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28416" y="841248"/>
            <a:ext cx="8406079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ผู้ดูแลเลือกเวลาแล้วกดบันทึก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ตรวจข้อมูล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กันรอบชนกัน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แสดงรอบใหม่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ฟอร์มเพิ่มรอบฉาย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(หน้าแบบฟอร์ม)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499616"/>
          </a:xfrm>
          <a:prstGeom prst="roundRect">
            <a:avLst>
              <a:gd name="adj" fmla="val 4268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ภาพยนตร์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อวตาร ภาค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โรง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โรง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2788920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เวลาเริ่ม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5336" y="2788920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20:30 น.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3026664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ราคาตั้งต้น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45336" y="3026664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180 บาท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1476" y="3319272"/>
            <a:ext cx="1173480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1476" y="3319272"/>
            <a:ext cx="117348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บันทึกรอบฉาย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AdminShowtimeController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(Create Action)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ผ่านด่านตรวจบทบาทผู้ดูแลระบบ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บังคับให้ส่งภาพยนตร์ โรง เวลาเริ่ม และราคาตั้งต้น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ตรวจว่าราคาตั้งต้นอยู่ระหว่าง 1 ถึง 5,000 บาท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เรียกใช้ Model แล้วส่งรอบที่สร้างเสร็จกลับไป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ShowtimeModel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คิดเวลาจบจากเวลาเริ่มบวกความยาวหนังจริง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ตรวจว่าไม่ชนกับรอบอื่นในโรงเดียวกัน เว้น 15 นาที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สร้างราคาของทุกโซนจากราคาตั้งต้นให้อัตโนมัติ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ชนกับรอบไหนจะบอกชื่อเรื่องและเวลาของรอบนั้น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สร้างรอบฉายและราคาโซน (INSERT)</a:t>
            </a:r>
          </a:p>
        </p:txBody>
      </p:sp>
      <p:sp>
        <p:nvSpPr>
          <p:cNvPr id="36" name="Can 35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รอบฉายใหม่พร้อมราคาแต่ละโซน</a:t>
            </a:r>
          </a:p>
        </p:txBody>
      </p:sp>
      <p:sp>
        <p:nvSpPr>
          <p:cNvPr id="39" name="Oval 38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42" name="Oval 41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6" name="Connector 45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ตารางรอบฉายหลังเพิ่ม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020824" y="4919472"/>
            <a:ext cx="412394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เพิ่มรอบฉายเรียบร้อย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รอบใหม่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20:30 - 23:10 น. · โรง 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ราคาแต่ละโซน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180 / 220 / 320 บาท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สถานะ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เปิดให้จองแล้ว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6" name="Oval 65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cxnSp>
        <p:nvCxnSpPr>
          <p:cNvPr id="69" name="Connector 68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ผู้ดูแลเลือกเวลาจากช่องที่ว่างแล้วกดบันทึก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ตรวจว่าส่งข้อมูลครบและราคาอยู่ในช่วงที่รับได้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คิดเวลาจบจากความยาวหนังจริง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ตรวจว่าไม่ชนกับรอบอื่น แล้วสร้างราคาทุกโซนให้อัตโนมัติ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แสดงรอบใหม่ในตาราง พร้อมเปิดให้ผู้ชมจองได้ทันที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ตรวจการชนกันอีกครั้งตอนบันทึกจริง เผื่อมีผู้ดูแลอีกคนลงรอบในช่องเดียวกันไปก่อน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54 / 70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แก้ไขรอบฉาย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3083052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279044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B45309"/>
                </a:solidFill>
                <a:latin typeface="Consolas"/>
                <a:ea typeface="Consolas"/>
                <a:cs typeface="Consolas"/>
              </a:rPr>
              <a:t>PATCH  /api/admin/showtimes/:id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77996" y="841248"/>
            <a:ext cx="7956499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ผู้ดูแลแก้เวลาหรือราคา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ตรวจข้อมูล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กันแก้รอบที่มีคนจอง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แสดงผล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ฟอร์มแก้ไขรอบฉาย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(หน้าแบบฟอร์ม)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รอบเดิม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20:30 น. · โรง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ราคาตั้งต้นใหม่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200 บาท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2788920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สถานะ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5336" y="2788920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ยังเปิดฉาย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13282" y="3081528"/>
            <a:ext cx="1229868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3282" y="3081528"/>
            <a:ext cx="122986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บันทึกการแก้ไข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AdminShowtimeController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(Update Action)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ผ่านด่านตรวจบทบาทผู้ดูแลระบบ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รับรหัสรอบฉายจากที่อยู่ของคำขอ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ตรวจเฉพาะช่องที่ส่งมา เช่น เวลา ราคา หรือสถานะ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เรียกใช้ Model แล้วส่งรอบที่อัปเดตกลับไป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ShowtimeModel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ย้ายเวลาหรือย้ายโรงไม่ได้ ถ้ารอบนี้มีคนจองแล้ว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ถ้าย้ายได้ จะตรวจการชนกับรอบอื่นอีกครั้ง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แก้ราคาตั้งต้นจะคิดราคาทุกโซนใหม่ทั้งชุด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เปลี่ยนสถานะเป็นยกเลิกรอบได้ โดยไม่ต้องลบทิ้ง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ปรับรอบฉายและราคาโซน (UPDATE)</a:t>
            </a:r>
          </a:p>
        </p:txBody>
      </p:sp>
      <p:sp>
        <p:nvSpPr>
          <p:cNvPr id="34" name="Can 33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รอบฉายหลังแก้ไข</a:t>
            </a:r>
          </a:p>
        </p:txBody>
      </p:sp>
      <p:sp>
        <p:nvSpPr>
          <p:cNvPr id="37" name="Oval 36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40" name="Oval 39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ตารางรอบฉายหลังแก้ไข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020824" y="4919472"/>
            <a:ext cx="412394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บันทึกการแก้ไขเรียบร้อย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ราคาตั้งต้นใหม่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200 บาท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ราคาแต่ละโซน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200 / 245 / 355 บาท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การจองเดิม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ยังใช้ราคาที่จ่ายไปแล้ว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4" name="Oval 63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cxnSp>
        <p:nvCxnSpPr>
          <p:cNvPr id="67" name="Connector 66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ผู้ดูแลแก้เวลา ราคา หรือสถานะของรอบฉาย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ตรวจเฉพาะช่องที่ส่งมา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ห้ามย้ายเวลาหรือโรง ถ้ารอบนี้มีคนจองแล้ว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แก้ราคาตั้งต้นจะคิดราคาทุกโซนใหม่ทั้งชุด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แสดงราคาที่อัปเดตแล้วในตาราง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การจองที่เกิดไปแล้วเก็บราคาที่จ่ายจริงไว้ในตัวเอง การขึ้นราคาภายหลังจึงไม่กระทบลูกค้าเดิม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55 / 70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ลบรอบฉาย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3172968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288036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B42318"/>
                </a:solidFill>
                <a:latin typeface="Consolas"/>
                <a:ea typeface="Consolas"/>
                <a:cs typeface="Consolas"/>
              </a:rPr>
              <a:t>DELETE  /api/admin/showtimes/:id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67912" y="841248"/>
            <a:ext cx="7866583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ผู้ดูแลกดลบรอบ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ส่งรหัสรอบ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ตรวจว่ามีคนจองไหม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แจ้งผล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กล่องยืนยันการลบรอบ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(หน้ายืนยัน)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รอบฉาย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20:30 น. · โรง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ที่นั่งที่ถูกจอง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0 ที่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79398" y="2843784"/>
            <a:ext cx="897636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79398" y="2843784"/>
            <a:ext cx="897636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ลบรอบนี้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AdminShowtimeController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(Delete Action)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ผ่านด่านตรวจบทบาทผู้ดูแลระบบ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รับรหัสรอบฉายจากที่อยู่ของคำขอ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เรียกใช้ Model แล้วตอบผลสำเร็จกลับไป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ShowtimeModel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นับก่อนว่ามีที่นั่งของรอบนี้ที่ถูกจองอยู่หรือไม่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มีการจองอยู่จะไม่ลบ และบอกให้จัดการการจองก่อน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ไม่มีการจองจึงลบรอบพร้อมราคาของทุกโซน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ทางเลือกที่นุ่มกว่าคือเปลี่ยนสถานะเป็นยกเลิกรอบ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ตรวจแล้วจึงลบรอบ (COUNT + DELETE)</a:t>
            </a:r>
          </a:p>
        </p:txBody>
      </p:sp>
      <p:sp>
        <p:nvSpPr>
          <p:cNvPr id="32" name="Can 31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ผลการลบ</a:t>
            </a:r>
          </a:p>
        </p:txBody>
      </p:sp>
      <p:sp>
        <p:nvSpPr>
          <p:cNvPr id="35" name="Oval 34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38" name="Oval 37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ตารางรอบฉายหลังลบ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020824" y="4919472"/>
            <a:ext cx="412394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ลบรอบฉายเรียบร้อย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รอบที่เหลือในวันนี้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14 รอบ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ราคาของรอบนั้น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ถูกลบตามไปด้วย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ช่วงเวลานั้น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กลับมาว่างให้ลงรอบใหม่ได้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2" name="Oval 61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cxnSp>
        <p:nvCxnSpPr>
          <p:cNvPr id="65" name="Connector 64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ผู้ดูแลกดลบรอบฉายที่ไม่ต้องการแล้ว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ส่งรหัสรอบฉายให้ Model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นับที่นั่งของรอบนี้ที่ยังถูกจองอยู่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มีการจองอยู่จะไม่ลบ แต่บอกให้จัดการการจองก่อน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แจ้งผลและปรับตารางให้ตรงกับข้อมูลล่าสุด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รอบที่มีคนจองแล้วควรเปลี่ยนสถานะเป็นยกเลิกรอบแทนการลบ ประวัติของลูกค้าจะได้ไม่หาย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56 / 70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การจองทั้งหมดในระบบ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2453640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2161032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GET  /api/admin/bookings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48584" y="841248"/>
            <a:ext cx="8585911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ผู้ดูแลค้นการจอง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ตรวจตัวกรอง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ค้นข้ามผู้ใช้ทุกคน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แสดงตาราง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หน้าการจองทั้งหมด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(แถบค้นหาและตัวกรอง)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สถานะ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รอชำระเงิน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วันที่ฉาย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2026-09-20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2788920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คำค้น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5336" y="2788920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081-234-5678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38834" y="3081528"/>
            <a:ext cx="778764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38834" y="3081528"/>
            <a:ext cx="77876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ค้นหา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AdminBookingController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(Index Action)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ผ่านด่านตรวจบทบาทผู้ดูแลระบบ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รับตัวกรองสถานะ วันที่ฉาย และคำค้น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ตรวจว่าสถานะที่ส่งมาเป็นค่าที่ระบบรู้จัก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เรียกใช้ Model แล้วส่งรายการกลับไป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BookingModel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ค้นข้ามผู้ใช้ทุกคน ต่างจากหน้าการจองของฉัน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คำค้นเดียวค้นได้ทั้งรหัสการจอง ชื่อ และเบอร์โทร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แนบข้อมูลผู้จอง รอบฉาย และสถานะการชำระเงิน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จำกัดผลลัพธ์ไว้ 100 รายการล่าสุด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ค้นการจองทั้งระบบ (SELECT)</a:t>
            </a:r>
          </a:p>
        </p:txBody>
      </p:sp>
      <p:sp>
        <p:nvSpPr>
          <p:cNvPr id="34" name="Can 33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รายการจองพร้อมข้อมูลผู้จอง</a:t>
            </a:r>
          </a:p>
        </p:txBody>
      </p:sp>
      <p:sp>
        <p:nvSpPr>
          <p:cNvPr id="37" name="Oval 36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40" name="Oval 39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ตารางการจองทั้งหมด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020824" y="4919472"/>
            <a:ext cx="412394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พบ 12 รายการที่ตรงเงื่อนไข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BK-8FQ2K7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สมชาย ใจดี · รอชำระเงิน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BK-3XM901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สมหญิง รักดี · ชำระแล้ว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การกระทำ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ดูรายละเอียด หรือยกเลิกแทนลูกค้า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4" name="Oval 63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cxnSp>
        <p:nvCxnSpPr>
          <p:cNvPr id="67" name="Connector 66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ผู้ดูแลค้นการจองจากรหัส ชื่อ หรือเบอร์โทรของลูกค้า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ตรวจตัวกรองก่อนส่งต่อให้ Model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ค้นข้ามผู้ใช้ทุกคนในระบบ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คืนข้อมูลผู้จองและสถานะการชำระเงินมาด้วย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แสดงตารางพร้อมปุ่มจัดการรายตัว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ลูกค้าโทรเข้ามามักบอกแค่ชื่อหรือเบอร์ ระบบจึงค้นทั้งสามช่องพร้อมกันด้วยคำค้นเดียว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57 / 70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ยกเลิกการจองแทนลูกค้า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3532632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324002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POST  /api/admin/bookings/:id/cancel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27576" y="841248"/>
            <a:ext cx="7506919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ผู้ดูแลกดยกเลิกให้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ระบุว่าเป็นการทำโดยผู้ดูแล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คืนที่นั่ง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แจ้งผล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กล่องยกเลิกการจอง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(หน้าแบบฟอร์ม)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การจอง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BK-8FQ2K7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ลูกค้า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สมชาย ใจดี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2788920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เหตุผล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5336" y="2788920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ลูกค้าโทรมาขอยกเลิก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33094" y="3081528"/>
            <a:ext cx="1190244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094" y="3081528"/>
            <a:ext cx="11902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ยกเลิกให้ลูกค้า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AdminBookingController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(Cancel Action)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ผ่านด่านตรวจบทบาทผู้ดูแลระบบ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รับรหัสการจองและเหตุผลจากฟอร์ม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ระบุให้ Model รู้ว่าเป็นการยกเลิกโดยผู้ดูแล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ส่งการจองที่อัปเดตแล้วกลับไป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BookingModel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ผู้ดูแลข้ามข้อจำกัดเวลา 3 ชั่วโมงก่อนฉายได้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ยกเลิกรายการที่สลิปกำลังรอตรวจได้ด้วย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ลบแถวที่นั่งทิ้ง ที่นั่งจึงกลับเข้าระบบทันที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ใบที่จ่ายเงินแล้วจะเข้าคิวรอโอนเงินคืน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ลบที่นั่งและปรับสถานะ (DELETE + UPDATE)</a:t>
            </a:r>
          </a:p>
        </p:txBody>
      </p:sp>
      <p:sp>
        <p:nvSpPr>
          <p:cNvPr id="34" name="Can 33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การจองที่ยกเลิกแล้ว</a:t>
            </a:r>
          </a:p>
        </p:txBody>
      </p:sp>
      <p:sp>
        <p:nvSpPr>
          <p:cNvPr id="37" name="Oval 36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40" name="Oval 39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ตารางการจองหลังยกเลิก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020824" y="4919472"/>
            <a:ext cx="4123944" cy="1444752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ยกเลิกการจองเรียบร้อย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สถานะ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ยกเลิกแล้ว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เหตุผลที่บันทึก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ลูกค้าโทรมาขอยกเลิก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ที่นั่ง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คืนเข้าระบบแล้ว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21408" y="6025896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ลูกค้า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47288" y="6025896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ได้รับแจ้งเตือนในระบบ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6" name="Oval 65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cxnSp>
        <p:nvCxnSpPr>
          <p:cNvPr id="69" name="Connector 68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ลูกค้าติดต่อเข้ามา ผู้ดูแลจึงยกเลิกให้จากหลังบ้าน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ระบุว่าเป็นการยกเลิกโดยผู้ดูแล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ข้ามข้อจำกัดที่ใช้กับผู้ใช้ทั่วไปได้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ลบแถวที่นั่งเพื่อคืนที่นั่ง และแจ้งเตือนลูกค้า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แสดงสถานะใหม่ในตารางทันที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ผู้ดูแลไม่ต้องกรอกบัญชีรับเงินคืน ถ้าจ่ายเงินมาแล้วรายการจะเข้าคิวคืนเงินให้ไปตามเหตุ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58 / 70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คิวสลิปรอตรวจสอบ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2453640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2161032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GET  /api/admin/payments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48584" y="841248"/>
            <a:ext cx="8585911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ผู้ดูแลเปิดหน้าตรวจสลิป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ตรวจตัวกรอง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ค้นคิว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แสดงรายการพร้อมสลิป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หน้าตรวจสลิป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(ตัวกรองสถานะ)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สถานะ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รอตรวจสอบ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การเรียงลำดับ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ส่งสลิปก่อนได้ตรวจก่อน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90066" y="2843784"/>
            <a:ext cx="876300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90066" y="2843784"/>
            <a:ext cx="87630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แสดงคิว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AdminPaymentController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(Index Action)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ผ่านด่านตรวจบทบาทผู้ดูแลระบบ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รับตัวกรองสถานะของใบชำระเงิน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ค่าเริ่มต้นคือคิวที่รอตรวจสอบ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เรียกใช้ Model แล้วส่งรายการกลับไป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PaymentModel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คิวรอตรวจเอาเฉพาะใบที่กดอนุมัติหรือปฏิเสธได้จริง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กันสลิปค้างคิวของการจองที่ถูกยกเลิกหรือหมดอายุไปแล้ว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เรียงตามเวลาที่ส่งสลิป ใครส่งก่อนได้ตรวจก่อน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แนบข้อมูลลูกค้า รอบฉาย และที่นั่งมาด้วย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ค้นใบชำระเงินตามสถานะ (SELECT)</a:t>
            </a:r>
          </a:p>
        </p:txBody>
      </p:sp>
      <p:sp>
        <p:nvSpPr>
          <p:cNvPr id="32" name="Can 31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คิวสลิปพร้อมข้อมูลการจอง</a:t>
            </a:r>
          </a:p>
        </p:txBody>
      </p:sp>
      <p:sp>
        <p:nvSpPr>
          <p:cNvPr id="35" name="Oval 34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38" name="Oval 37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หน้าคิวตรวจสลิป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020824" y="4919472"/>
            <a:ext cx="4123944" cy="1444752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มีสลิปรอตรวจ 8 รายการ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รายการแรก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BK-8FQ2K7 · 440 บาท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ลูกค้า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สมชาย ใจดี · 081-234-5678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รอบฉาย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20 ก.ย. 20:30 น. · โรง 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21408" y="6025896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ปุ่มที่ทำได้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47288" y="6025896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ดูสลิป · อนุมัติ · ปฏิเสธ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4" name="Oval 63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cxnSp>
        <p:nvCxnSpPr>
          <p:cNvPr id="67" name="Connector 66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ผู้ดูแลเปิดหน้าตรวจสลิปเพื่อเคลียร์คิว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ตั้งค่าเริ่มต้นเป็นคิวที่รอตรวจสอบ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คัดเฉพาะใบที่กดอนุมัติหรือปฏิเสธได้จริง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เรียงตามเวลาที่ส่งสลิป ใครส่งก่อนได้ตรวจก่อน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แสดงรายการพร้อมสลิปและปุ่มตัดสินใจ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กรองการจองที่ปิดไปแล้วออกจากคิว ไม่งั้นสลิปเก่าจะค้างอยู่ทั้งที่ผู้ดูแลกดอะไรไม่ได้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59 / 70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อนุมัติสลิปการชำระเงิน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3622548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332994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POST  /api/admin/payments/:id/approve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7492" y="841248"/>
            <a:ext cx="7417003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ผู้ดูแลกดอนุมัติ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ตรวจบทบาท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ยืนยันการจ่าย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ตัดรายการออกจากคิว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หน้าคิวตรวจสลิป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(ปุ่มในแต่ละรายการ)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การจอง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BK-8FQ2K7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ยอดโอน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440 บาท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2788920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สลิป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5336" y="2788920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ตรวจแล้ว ยอดตรง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36548" y="3081528"/>
            <a:ext cx="783336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36548" y="3081528"/>
            <a:ext cx="783336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อนุมัติ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AdminPaymentController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(Approve Action)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ผ่านด่านตรวจบทบาทผู้ดูแลระบบ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รับรหัสรายการชำระเงินจากปุ่มที่กด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ส่งรหัสผู้ดูแลไปด้วย เพื่อบันทึกว่าใครอนุมัติ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ส่งการจองที่อัปเดตแล้วกลับไป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PaymentModel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ตรวจว่ารายการนี้ยังรอตรวจอยู่จริง กันการกดซ้ำสองครั้ง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เปลี่ยนใบชำระเงินเป็นอนุมัติ และการจองเป็นชำระแล้ว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บันทึกเวลาชำระ และผู้ดูแลที่เป็นคนอนุมัติ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สร้างการแจ้งเตือนถึงผู้จองในรายการเดียวกัน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อัปเดตสถานะและบันทึกแจ้งเตือน (UPDATE)</a:t>
            </a:r>
          </a:p>
        </p:txBody>
      </p:sp>
      <p:sp>
        <p:nvSpPr>
          <p:cNvPr id="34" name="Can 33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การจองที่อัปเดตแล้ว</a:t>
            </a:r>
          </a:p>
        </p:txBody>
      </p:sp>
      <p:sp>
        <p:nvSpPr>
          <p:cNvPr id="37" name="Oval 36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40" name="Oval 39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หน้าคิวตรวจสลิปหลังอนุมัติ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020824" y="4919472"/>
            <a:ext cx="4123944" cy="1444752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อนุมัติเรียบร้อย ออกตั๋วให้ลูกค้าแล้ว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สถานะการจอง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ชำระเงินแล้ว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สถานะสลิป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อนุมัติ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ผู้ตรวจสอบ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แอดมิน สมชาย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21408" y="6025896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คิวคงเหลือ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47288" y="6025896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7 รายการ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6" name="Oval 65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cxnSp>
        <p:nvCxnSpPr>
          <p:cNvPr id="69" name="Connector 68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ผู้ดูแลเปิดสลิปเทียบยอดแล้วกดอนุมัติ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ตรวจบทบาทและแนบรหัสผู้ดูแลไปด้วย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ยืนยันว่ารายการยังรอตรวจ แล้วเปลี่ยนเป็นชำระแล้ว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ระบบสร้างการแจ้งเตือนถึงผู้จองในรายการเดียวกัน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ตัดรายการออกจากคิว และผู้จองเปิดตั๋วได้ทันที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ถ้าสถานะเปลี่ยนไปก่อนแล้ว เช่นถูกกดจากอีกหน้าจอ ระบบจะปฏิเสธและให้รีเฟรชคิวก่อน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60 / 70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ปฏิเสธสลิปการชำระเงิน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3532632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324002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POST  /api/admin/payments/:id/reject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27576" y="841248"/>
            <a:ext cx="7506919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ผู้ดูแลระบุเหตุผล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บังคับให้กรอกเหตุผล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คืนสถานะรอจ่าย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แจ้งลูกค้า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กล่องปฏิเสธสลิป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(หน้าแบบฟอร์ม)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359408"/>
          </a:xfrm>
          <a:prstGeom prst="roundRect">
            <a:avLst>
              <a:gd name="adj" fmla="val 4708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การจอง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BK-7LQ445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ยอดที่ต้องโอน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440 บาท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2788920"/>
            <a:ext cx="841248" cy="335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เหตุผล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5336" y="2788920"/>
            <a:ext cx="1207008" cy="335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ยอดในสลิปไม่ตรงกับยอดที่ต้องชำระ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28344" y="3179064"/>
            <a:ext cx="999744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28344" y="3179064"/>
            <a:ext cx="9997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ปฏิเสธสลิป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AdminPaymentController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(Reject Action)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ผ่านด่านตรวจบทบาทผู้ดูแลระบบ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บังคับให้กรอกเหตุผล ห้ามปฏิเสธโดยไม่บอกสาเหตุ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ส่งรหัสผู้ดูแลไปด้วย เพื่อบันทึกว่าใครปฏิเสธ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ส่งการจองที่อัปเดตแล้วกลับไป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PaymentModel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ตรวจว่ารายการนี้ยังรอตรวจอยู่จริง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ไม่ยกเลิกการจองทิ้ง แต่คืนไปเป็นรอชำระเงินใหม่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ให้เวลาส่งสลิปใหม่อีก 10 นาที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แจ้งเตือนลูกค้าพร้อมเหตุผลที่ไม่ผ่าน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ปรับสถานะและตั้งเวลาใหม่ (UPDATE)</a:t>
            </a:r>
          </a:p>
        </p:txBody>
      </p:sp>
      <p:sp>
        <p:nvSpPr>
          <p:cNvPr id="34" name="Can 33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การจองที่กลับไปรอชำระเงิน</a:t>
            </a:r>
          </a:p>
        </p:txBody>
      </p:sp>
      <p:sp>
        <p:nvSpPr>
          <p:cNvPr id="37" name="Oval 36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40" name="Oval 39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หน้าคิวตรวจสลิปหลังปฏิเสธ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020824" y="4919472"/>
            <a:ext cx="4123944" cy="1444752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E0E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ปฏิเสธสลิปแล้ว และแจ้งลูกค้าเรียบร้อย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สถานะการจอง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รอชำระเงิน (รอบใหม่)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เวลาที่ให้ใหม่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10 นาที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ที่นั่ง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ยังถูกกันไว้ให้ลูกค้า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21408" y="6025896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เหตุผลที่ลูกค้าเห็น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47288" y="6025896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ยอดในสลิปไม่ตรง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6" name="Oval 65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cxnSp>
        <p:nvCxnSpPr>
          <p:cNvPr id="69" name="Connector 68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ผู้ดูแลพบว่าสลิปไม่ถูกต้อง จึงระบุเหตุผลแล้วกดปฏิเสธ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บังคับให้กรอกเหตุผลก่อนส่งต่อ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คืนการจองไปเป็นรอชำระเงิน ไม่ยกเลิกทิ้ง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ให้เวลาส่งสลิปใหม่อีก 10 นาที และแจ้งเตือนลูกค้า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ตัดรายการออกจากคิว ลูกค้าส่งสลิปใหม่ได้เลย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ไม่ยกเลิกทิ้งทันที เพราะผู้ใช้อาจแค่แนบสลิปผิดรูป การให้โอกาสแก้จึงสมเหตุสมผลกว่า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61 / 70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คิวรายการรอคืนเงิน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2363724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2071116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GET  /api/admin/refunds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58668" y="841248"/>
            <a:ext cx="8675827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ผู้ดูแลเปิดหน้าคืนเงิน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ตรวจตัวกรอง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ค้นคิว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แสดงบัญชีปลายทาง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หน้าคืนเงิน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(ตัวกรองสถานะ)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สถานะ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รอโอนคืน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การเรียงลำดับ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ค้างนานสุดขึ้นก่อน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90066" y="2843784"/>
            <a:ext cx="876300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90066" y="2843784"/>
            <a:ext cx="87630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แสดงคิว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AdminRefundController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(Index Action)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ผ่านด่านตรวจบทบาทผู้ดูแลระบบ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รับตัวกรองว่าจะดูคิวที่รอโอน หรือที่คืนไปแล้ว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ค่าเริ่มต้นคือคิวที่ยังรอโอนคืน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เรียกใช้ Model แล้วส่งรายการกลับไป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RefundModel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คิวนี้คือรายการที่จ่ายเงินแล้วแต่ถูกยกเลิกภายหลัง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แนบธนาคารและเลขที่บัญชีที่ลูกค้าแจ้งไว้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คิวที่รอโอนเรียงจากที่ค้างนานที่สุดขึ้นก่อน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คิวที่คืนไปแล้วเรียงจากรายการล่าสุดลงมา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ค้นใบชำระเงินตามสถานะคืนเงิน (SELECT)</a:t>
            </a:r>
          </a:p>
        </p:txBody>
      </p:sp>
      <p:sp>
        <p:nvSpPr>
          <p:cNvPr id="32" name="Can 31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คิวคืนเงิน + บัญชีปลายทาง</a:t>
            </a:r>
          </a:p>
        </p:txBody>
      </p:sp>
      <p:sp>
        <p:nvSpPr>
          <p:cNvPr id="35" name="Oval 34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38" name="Oval 37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หน้าคิวคืนเงิน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020824" y="4919472"/>
            <a:ext cx="4123944" cy="1444752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มีรายการรอโอนคืน 2 รายการ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BK-7LQ445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440 บาท · ค้าง 2 วัน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บัญชีปลายทาง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กสิกรไทย 123-4-56789-0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ชื่อลูกค้า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สมชาย ใจดี · 081-234-5678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21408" y="6025896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ปุ่มที่ทำได้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47288" y="6025896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บันทึกว่าโอนคืนแล้ว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4" name="Oval 63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cxnSp>
        <p:nvCxnSpPr>
          <p:cNvPr id="67" name="Connector 66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ผู้ดูแลเปิดหน้าคืนเงินเพื่อดูว่ายังค้างใครอยู่บ้าง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ตั้งค่าเริ่มต้นเป็นคิวที่ยังรอโอนคืน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ค้นรายการที่จ่ายเงินแล้วแต่ถูกยกเลิก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แนบธนาคารและเลขที่บัญชีที่ลูกค้าแจ้งไว้มาด้วย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แสดงคิวเรียงจากรายการที่ค้างนานที่สุด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ระบบนี้รับเงินด้วยการโอนและตรวจสลิป การคืนเงินจึงเป็นการโอนคืนด้วยมือเช่นกัน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62 / 70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บันทึกว่าโอนเงินคืนแล้ว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3622548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332994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POST  /api/admin/refunds/:id/complete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7492" y="841248"/>
            <a:ext cx="7417003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ผู้ดูแลโอนคืนแล้วมาบันทึก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รับสลิปคืนเงิน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ปิดรายการ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ตัดออกจากคิว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กล่องบันทึกการคืนเงิน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(หน้าแบบฟอร์ม)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456944"/>
          </a:xfrm>
          <a:prstGeom prst="roundRect">
            <a:avLst>
              <a:gd name="adj" fmla="val 439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รายการ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BK-7LQ445 · 440 บาท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335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สลิปคืนเงิน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335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refund-0918.png (ไม่บังคับ)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2886456"/>
            <a:ext cx="841248" cy="335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บันทึกเพิ่มเติม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5336" y="2886456"/>
            <a:ext cx="1207008" cy="335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โอนคืนผ่านแอปธนาคารแล้ว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5746" y="3276600"/>
            <a:ext cx="1424940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5746" y="3276600"/>
            <a:ext cx="14249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บันทึกว่าโอนคืนแล้ว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AdminRefundController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(Complete Action)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ผ่านด่านตรวจบทบาทผู้ดูแลระบบ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ใช้ด่านรับไฟล์ตัวเดียวกับสลิปฝั่งจ่ายเงิน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สลิปคืนเงินแนบได้แต่ไม่บังคับ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ส่งคิวคืนเงินที่เหลือกลับไปให้ทันที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RefundModel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ตรวจว่ารายการนี้ยังอยู่ในสถานะรอคืนเงินจริง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รายการที่คืนไปแล้วจะบันทึกซ้ำไม่ได้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บันทึกเวลาคืนเงิน ผู้ที่โอนคืน และบันทึกเพิ่มเติม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แจ้งเตือนลูกค้าว่าคืนเงินเรียบร้อยแล้ว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ปิดรายการคืนเงินและแจ้งเตือน (UPDATE)</a:t>
            </a:r>
          </a:p>
        </p:txBody>
      </p:sp>
      <p:sp>
        <p:nvSpPr>
          <p:cNvPr id="34" name="Can 33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คิวคืนเงินที่เหลือ</a:t>
            </a:r>
          </a:p>
        </p:txBody>
      </p:sp>
      <p:sp>
        <p:nvSpPr>
          <p:cNvPr id="37" name="Oval 36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40" name="Oval 39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หน้าคิวคืนเงินหลังบันทึก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020824" y="4919472"/>
            <a:ext cx="4123944" cy="1444752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บันทึกการคืนเงินเรียบร้อย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สถานะ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คืนเงินแล้ว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ผู้โอนคืน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แอดมิน สมชาย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หลักฐาน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แนบสลิปคืนเงินไว้แล้ว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21408" y="6025896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คิวคงเหลือ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47288" y="6025896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1 รายการ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6" name="Oval 65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cxnSp>
        <p:nvCxnSpPr>
          <p:cNvPr id="69" name="Connector 68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ผู้ดูแลโอนเงินคืนผ่านแอปธนาคารด้วยตัวเองก่อน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จากนั้นกลับมาบันทึกในระบบ พร้อมแนบสลิปได้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ตรวจว่ารายการยังรอคืนเงินอยู่จริง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บันทึกเวลา ผู้โอนคืน และแจ้งเตือนลูกค้า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ตัดรายการออกจากคิวและอัปเดตตัวเลขบนเมนู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ระบบไม่ได้ตัดเงินเอง จึงคืนเองไม่ได้ หน้าที่ของระบบคือไม่ปล่อยให้ลืม และเก็บหลักฐานไว้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63 / 70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ค้นหาผู้ใช้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2183892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18912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GET  /api/admin/users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78836" y="841248"/>
            <a:ext cx="8855659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ผู้ดูแลพิมพ์คำค้น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ตรวจตัวกรอง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ค้นสามช่องพร้อมกัน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แสดงตาราง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หน้าจัดการผู้ใช้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(แถบค้นหา)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คำค้น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สมชาย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บทบาท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ทั้งหมด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38834" y="2843784"/>
            <a:ext cx="778764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38834" y="2843784"/>
            <a:ext cx="77876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ค้นหา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AdminUserController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(Index Action)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ผ่านด่านตรวจบทบาทผู้ดูแลระบบ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รับคำค้นและตัวกรองบทบาท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ตรวจว่าบทบาทที่ส่งมาเป็นค่าที่ระบบรู้จัก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เรียกใช้ Model แล้วส่งรายการกลับไป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UserModel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คำค้นเดียวค้นได้ทั้งชื่อ อีเมล และเบอร์โทร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จัดรูปเบอร์โทรให้เป็นมาตรฐานก่อนค้น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ไม่ส่งรหัสผ่านออกไปเลย แม้ในรูปที่เข้ารหัสแล้ว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นับจำนวนการจองของแต่ละบัญชีมาให้ด้วย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ค้นผู้ใช้และนับการจอง (SELECT)</a:t>
            </a:r>
          </a:p>
        </p:txBody>
      </p:sp>
      <p:sp>
        <p:nvSpPr>
          <p:cNvPr id="32" name="Can 31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รายการผู้ใช้ + จำนวนการจอง</a:t>
            </a:r>
          </a:p>
        </p:txBody>
      </p:sp>
      <p:sp>
        <p:nvSpPr>
          <p:cNvPr id="35" name="Oval 34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38" name="Oval 37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ตารางจัดการผู้ใช้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020824" y="4919472"/>
            <a:ext cx="412394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พบ 3 บัญชีที่ตรงคำค้น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สมชาย ใจดี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somchai@mail.com · 12 การจอง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บทบาท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ผู้ใช้ทั่วไป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ปุ่มที่ทำได้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แก้ไข · ตั้งรหัสใหม่ · ลบ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2" name="Oval 61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cxnSp>
        <p:nvCxnSpPr>
          <p:cNvPr id="65" name="Connector 64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ลูกค้าโทรเข้ามา ผู้ดูแลค้นบัญชีจากชื่อหรือเบอร์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ตรวจตัวกรองแล้วส่งต่อให้ Model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ค้นทั้งชื่อ อีเมล และเบอร์โทรด้วยคำค้นเดียว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คืนข้อมูลเท่าที่จำเป็น โดยไม่มีรหัสผ่านติดไปด้วย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แสดงตารางพร้อมปุ่มช่วยเหลือลูกค้ารายตัว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ลูกค้ามักจำไม่ได้ว่าสมัครด้วยอีเมลหรือเบอร์ ระบบจึงค้นให้ครบทั้งสามช่องในครั้งเดียว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64 / 70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แก้ข้อมูลผู้ใช้และเปลี่ยนบทบาท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2723388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243078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B45309"/>
                </a:solidFill>
                <a:latin typeface="Consolas"/>
                <a:ea typeface="Consolas"/>
                <a:cs typeface="Consolas"/>
              </a:rPr>
              <a:t>PATCH  /api/admin/users/:id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18332" y="841248"/>
            <a:ext cx="8316163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ผู้ดูแลแก้ข้อมูลให้ลูกค้า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ตรวจช่องที่แก้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กันแก้บทบาทตัวเอง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แสดงผล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ฟอร์มแก้ไขผู้ใช้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(หน้าแบบฟอร์ม)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597152"/>
          </a:xfrm>
          <a:prstGeom prst="roundRect">
            <a:avLst>
              <a:gd name="adj" fmla="val 400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บัญชี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สมชาย ใจดี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335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อีเมลใหม่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335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somchai.fixed@mail.com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288645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เบอร์โทรใหม่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5336" y="288645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081-234-5678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3124200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บทบาท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45336" y="3124200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ผู้ใช้ทั่วไป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13282" y="3416808"/>
            <a:ext cx="1229868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3282" y="3416808"/>
            <a:ext cx="122986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บันทึกการแก้ไข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AdminUserController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(Update Action)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ผ่านด่านตรวจบทบาทผู้ดูแลระบบ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บังคับให้ส่งมาอย่างน้อยหนึ่งช่องที่ต้องการแก้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ส่งรหัสของผู้ดูแลที่กำลังทำรายการไปด้วย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เรียกใช้ Model แล้วส่งข้อมูลใหม่กลับไป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UserModel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ห้ามเปลี่ยนบทบาทของตัวเอง ต้องให้ผู้ดูแลอีกคนทำให้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ตรวจว่าเบอร์ใหม่เป็นเบอร์มือถือไทย 10 หลัก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อีเมลหรือเบอร์ที่ซ้ำกับบัญชีอื่นจะบอกว่าซ้ำที่ช่องไหน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ปรับอีเมลเป็นตัวพิมพ์เล็กก่อนบันทึกเสมอ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ปรับข้อมูลบัญชี (UPDATE)</a:t>
            </a:r>
          </a:p>
        </p:txBody>
      </p:sp>
      <p:sp>
        <p:nvSpPr>
          <p:cNvPr id="36" name="Can 35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ข้อมูลผู้ใช้หลังแก้ไข</a:t>
            </a:r>
          </a:p>
        </p:txBody>
      </p:sp>
      <p:sp>
        <p:nvSpPr>
          <p:cNvPr id="39" name="Oval 38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42" name="Oval 41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6" name="Connector 45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ตารางผู้ใช้หลังแก้ไข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020824" y="4919472"/>
            <a:ext cx="412394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บันทึกการแก้ไขเรียบร้อย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อีเมล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somchai.fixed@mail.com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เบอร์โทร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0812345678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ผลกับลูกค้า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ล็อกอินด้วยข้อมูลใหม่ได้ทันที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6" name="Oval 65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cxnSp>
        <p:nvCxnSpPr>
          <p:cNvPr id="69" name="Connector 68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ลูกค้ากรอกอีเมลผิดตอนสมัครจนล็อกอินไม่ได้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ผู้ดูแลแก้ข้อมูลให้จากหน้าจัดการผู้ใช้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ตรวจรูปแบบเบอร์และกันข้อมูลซ้ำกับบัญชีอื่น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ระบบห้ามผู้ดูแลเปลี่ยนบทบาทของตัวเอง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แสดงข้อมูลใหม่ ลูกค้าล็อกอินได้ทันที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ห้ามเปลี่ยนบทบาทตัวเอง กันผู้ดูแลคนสุดท้ายถอดสิทธิ์ตัวเองจนไม่มีใครเข้าหลังบ้านได้อีก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65 / 70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ตั้งรหัสผ่านใหม่ให้ผู้ใช้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3442716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3150108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POST  /api/admin/users/:id/password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37660" y="841248"/>
            <a:ext cx="7596835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ผู้ดูแลตั้งรหัสชั่วคราว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ตรวจความแข็งแรง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เปลี่ยนรหัสและล้างเซสชัน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แจ้งผล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กล่องตั้งรหัสผ่านใหม่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(หน้าแบบฟอร์ม)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บัญชีปลายทาง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สมชาย ใจดี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รหัสผ่านชั่วคราว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••••••••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2788920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เหตุผลที่ใช้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5336" y="2788920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ลูกค้าเข้าอีเมลตัวเองไม่ได้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17092" y="3081528"/>
            <a:ext cx="1222248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7092" y="3081528"/>
            <a:ext cx="122224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ตั้งรหัสผ่านใหม่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AdminUserController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(Reset Password Action)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ผ่านด่านตรวจบทบาทผู้ดูแลระบบ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ตรวจว่ารหัสผ่านใหม่ผ่านเกณฑ์ความแข็งแรง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ส่งรหัสของผู้ดูแลที่กำลังทำรายการไปด้วย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ส่งผลสำเร็จกลับไปโดยไม่คืนรหัสผ่าน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UserModel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ห้ามใช้ช่องทางนี้เปลี่ยนรหัสของตัวเอง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รหัสของตัวเองต้องเปลี่ยนที่หน้าโปรไฟล์ เพราะต้องยืนยันรหัสเดิม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บันทึกรหัสใหม่ในรูปที่เข้ารหัสแล้ว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เพิกถอนทุกเซสชันของบัญชีนั้น เผื่อกรณีบัญชีถูกยึด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เปลี่ยนรหัสผ่านและปิดเซสชัน (UPDATE)</a:t>
            </a:r>
          </a:p>
        </p:txBody>
      </p:sp>
      <p:sp>
        <p:nvSpPr>
          <p:cNvPr id="34" name="Can 33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ยืนยันผล</a:t>
            </a:r>
          </a:p>
        </p:txBody>
      </p:sp>
      <p:sp>
        <p:nvSpPr>
          <p:cNvPr id="37" name="Oval 36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40" name="Oval 39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ตารางผู้ใช้หลังตั้งรหัสใหม่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020824" y="4919472"/>
            <a:ext cx="412394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ตั้งรหัสผ่านใหม่เรียบร้อย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บัญชี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สมชาย ใจดี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อุปกรณ์ทั้งหมด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ถูกออกจากระบบ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ขั้นต่อไป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แจ้งรหัสชั่วคราวให้เจ้าของไปตั้งใหม่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4" name="Oval 63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cxnSp>
        <p:nvCxnSpPr>
          <p:cNvPr id="67" name="Connector 66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ลูกค้าลืมรหัสและเข้าอีเมลตัวเองไม่ได้แล้ว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ผู้ดูแลตั้งรหัสชั่วคราวให้จากหน้าจัดการผู้ใช้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ห้ามใช้ช่องทางนี้กับบัญชีของผู้ดูแลเอง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เปลี่ยนรหัสแล้วเพิกถอนทุกเซสชันของบัญชีนั้น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ผู้ดูแลแจ้งรหัสชั่วคราวให้เจ้าของไปตั้งใหม่เอง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เป็นทางสำรอง ปกติลูกค้ากู้เองได้จากหน้าลืมรหัสผ่านซึ่งไม่ต้องให้ใครรู้รหัสแทน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66 / 70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ลบบัญชีผู้ใช้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2813304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2520696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B42318"/>
                </a:solidFill>
                <a:latin typeface="Consolas"/>
                <a:ea typeface="Consolas"/>
                <a:cs typeface="Consolas"/>
              </a:rPr>
              <a:t>DELETE  /api/admin/users/:id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08248" y="841248"/>
            <a:ext cx="8226247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ผู้ดูแลกดลบบัญชี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ส่งรหัสบัญชี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ตรวจประวัติการจอง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แจ้งผล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กล่องยืนยันการลบบัญชี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(หน้ายืนยัน)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บัญชี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ทดสอบ ระบบ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อีเมล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test@mail.com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2788920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ประวัติการจอง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5336" y="2788920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0 รายการ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50442" y="3081528"/>
            <a:ext cx="955548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50442" y="3081528"/>
            <a:ext cx="95554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ลบบัญชีนี้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AdminUserController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(Delete Action)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ผ่านด่านตรวจบทบาทผู้ดูแลระบบ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รับรหัสบัญชีจากที่อยู่ของคำขอ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ส่งรหัสของผู้ดูแลที่กำลังทำรายการไปด้วย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ส่งผลสำเร็จหรือเหตุผลที่ลบไม่ได้กลับไป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UserModel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ห้ามลบบัญชีของตัวเอง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ลบได้เฉพาะบัญชีที่ยังไม่เคยจองเลย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บัญชีที่มีประวัติจะลบไม่ได้ เพราะยอดขายในรายงานจะหายตาม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บัญชีที่เคยใช้งานจริงควรถอดสิทธิ์หรือแก้ข้อมูลแทน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ตรวจประวัติแล้วจึงลบ (COUNT + DELETE)</a:t>
            </a:r>
          </a:p>
        </p:txBody>
      </p:sp>
      <p:sp>
        <p:nvSpPr>
          <p:cNvPr id="34" name="Can 33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ผลการลบ</a:t>
            </a:r>
          </a:p>
        </p:txBody>
      </p:sp>
      <p:sp>
        <p:nvSpPr>
          <p:cNvPr id="37" name="Oval 36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40" name="Oval 39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ตารางผู้ใช้หลังลบ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020824" y="4919472"/>
            <a:ext cx="412394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ลบบัญชีเรียบร้อย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บัญชีที่ลบ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ทดสอบ ระบบ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เงื่อนไข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ไม่เคยมีประวัติการจอง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รายงานยอดขาย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ไม่ได้รับผลกระทบ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4" name="Oval 63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cxnSp>
        <p:nvCxnSpPr>
          <p:cNvPr id="67" name="Connector 66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ผู้ดูแลกดลบบัญชีที่สร้างไว้ทดสอบหรือสมัครซ้ำ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ส่งรหัสบัญชีและรหัสผู้ดูแลให้ Model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ห้ามลบบัญชีของตัวเอง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นับประวัติการจองก่อน บัญชีที่เคยจองแล้วจะลบไม่ได้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แจ้งผลและปรับตารางให้ตรงกับข้อมูลล่าสุด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การจองผูกกับบัญชีแบบลบตาม ถ้าลบบัญชีที่มีประวัติ ยอดขายในรายงานจะหายไปเงียบ ๆ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67 / 70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รายงานยอดขาย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2903220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2610612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GET  /api/admin/reports/sales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8164" y="841248"/>
            <a:ext cx="8136331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ผู้ดูแลเลือกช่วงวันและการจัดกลุ่ม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ตรวจตัวกรอง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รวมยอด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แสดงตาราง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หน้ารายงานยอดขาย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(ตัวกรองด้านบน)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ตั้งแต่วันที่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2026-09-01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ถึงวันที่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2026-09-18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2788920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จัดกลุ่มตาม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5336" y="2788920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รายวัน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80338" y="3081528"/>
            <a:ext cx="1095756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0338" y="3081528"/>
            <a:ext cx="1095756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สร้างรายงาน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AdminReportController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(Sales Action)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ผ่านด่านตรวจบทบาทผู้ดูแลระบบ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ตรวจว่าวันที่อยู่ในรูปแบบ ปี-เดือน-วัน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รับตัวเลือกจัดกลุ่ม: รายวัน รายเรื่อง หรือรายโรง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เรียกใช้ Model แล้วส่งตารางสรุปกลับไป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ReportModel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นับเฉพาะการจองที่ชำระเงินแล้วเท่านั้น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รวมจำนวนการจอง จำนวนตั๋ว และรายได้ในแต่ละกลุ่ม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แยกยอดคืนเงินออกมาให้เห็นต่างหาก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จัดกลุ่มรายวันเรียงตามวัน กลุ่มอื่นเรียงตามรายได้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อ่านการจองที่ชำระแล้ว (SELECT)</a:t>
            </a:r>
          </a:p>
        </p:txBody>
      </p:sp>
      <p:sp>
        <p:nvSpPr>
          <p:cNvPr id="34" name="Can 33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ตารางสรุป + ยอดคืนเงิน</a:t>
            </a:r>
          </a:p>
        </p:txBody>
      </p:sp>
      <p:sp>
        <p:nvSpPr>
          <p:cNvPr id="37" name="Oval 36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40" name="Oval 39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ตารางรายงานยอดขาย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020824" y="4919472"/>
            <a:ext cx="4123944" cy="1444752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สรุปช่วง 1 - 18 ก.ย. 2569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รายได้รวม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284,300 บาท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จำนวนตั๋ว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1,284 ใบ · 612 การจอง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ยอดคืนเงิน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3,520 บาท (8 รายการ)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21408" y="6025896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รอโอนคืน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47288" y="6025896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880 บาท (2 รายการ)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6" name="Oval 65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cxnSp>
        <p:nvCxnSpPr>
          <p:cNvPr id="69" name="Connector 68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ผู้ดูแลเลือกช่วงวันและรูปแบบการจัดกลุ่ม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ตรวจรูปแบบวันที่ก่อนส่งต่อ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รวมยอดจากการจองที่ชำระเงินแล้วเท่านั้น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แยกยอดคืนเงินออกมาแสดงต่างหากด้วย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แสดงเป็นตารางพร้อมยอดรวมท้ายตาราง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เดิมรายได้ที่ถูกยกเลิกภายหลังจะหายจากรายงานเงียบ ๆ ตอนนี้แยกยอดคืนเงินให้เห็นชัด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68 / 70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ดาวน์โหลดรายงานยอดขาย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3262884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2970276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GET  /api/admin/reports/sales.csv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7828" y="841248"/>
            <a:ext cx="7776667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ผู้ดูแลกดดาวน์โหลด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ตั้งหัวข้อมูลไฟล์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แปลงรายงานเป็นตาราง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บันทึกไฟล์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หน้ารายงานยอดขาย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(ปุ่มดาวน์โหลด)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ช่วงวันที่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1 - 18 ก.ย. 2569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จัดกลุ่มตาม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รายวัน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2788920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รูปแบบไฟล์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5336" y="2788920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CSV เปิดด้วย Excel ได้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03376" y="3081528"/>
            <a:ext cx="1249680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3376" y="3081528"/>
            <a:ext cx="124968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ดาวน์โหลด CSV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AdminReportController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(Sales CSV Action)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ผ่านด่านตรวจบทบาทผู้ดูแลระบบ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ใช้ตัวกรองชุดเดียวกับรายงานบนหน้าจอ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ตั้งหัวข้อมูลให้เบราว์เซอร์บันทึกเป็นไฟล์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ส่งเนื้อไฟล์ออกไปแทนข้อมูลแบบปกติ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ReportModel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สร้างรายงานด้วยตัวเดียวกับที่แสดงบนหน้าจอ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ตัวเลขในไฟล์จึงตรงกับที่เห็นบนเว็บเสมอ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แปลงเป็นตารางข้อความพร้อมบรรทัดยอดรวม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ใส่เครื่องหมายนำหน้าไฟล์ ให้ Excel อ่านภาษาไทยถูก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อ่านการจองที่ชำระแล้ว (SELECT)</a:t>
            </a:r>
          </a:p>
        </p:txBody>
      </p:sp>
      <p:sp>
        <p:nvSpPr>
          <p:cNvPr id="34" name="Can 33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ตารางสรุปสำหรับแปลงเป็นไฟล์</a:t>
            </a:r>
          </a:p>
        </p:txBody>
      </p:sp>
      <p:sp>
        <p:nvSpPr>
          <p:cNvPr id="37" name="Oval 36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40" name="Oval 39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ไฟล์ที่ดาวน์โหลด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020824" y="4919472"/>
            <a:ext cx="412394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ดาวน์โหลดไฟล์เรียบร้อย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ชื่อไฟล์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sales-report.csv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คอลัมน์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กลุ่ม · การจอง · ตั๋ว · รายได้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บรรทัดสุดท้าย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ยอดรวมทั้งช่วง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4" name="Oval 63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cxnSp>
        <p:nvCxnSpPr>
          <p:cNvPr id="67" name="Connector 66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ผู้ดูแลกดปุ่มดาวน์โหลดจากหน้ารายงาน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ใช้ตัวกรองชุดเดียวกับรายงานบนหน้าจอ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สร้างรายงานด้วยตัวเดียวกัน ตัวเลขจึงตรงกัน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แปลงเป็นตารางข้อความพร้อมบรรทัดยอดรวม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เบราว์เซอร์บันทึกเป็นไฟล์ให้เปิดใน Excel ต่อได้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ใส่เครื่องหมายนำหน้าไฟล์โดยตั้งใจ ไม่งั้น Excel จะอ่านชื่อเรื่องภาษาไทยเป็นอักขระเพี้ยน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69 / 70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MVC Architecture : รายงานอัตราที่นั่งเต็ม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97135" y="33832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97135" y="33832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3262884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841248"/>
            <a:ext cx="2970276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GET  /api/admin/reports/occupancy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7828" y="841248"/>
            <a:ext cx="7776667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ผู้ดูแลเลือกช่วงวัน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Controller ตรวจตัวกรอง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Model คิดอัตราเต็มรายรอบ </a:t>
            </a:r>
            <a:r>
              <a:rPr sz="11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→</a:t>
            </a:r>
            <a:r>
              <a:rPr sz="11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 View แสดงตาราง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42032" cy="2487168"/>
          </a:xfrm>
          <a:prstGeom prst="roundRect">
            <a:avLst>
              <a:gd name="adj" fmla="val 4411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1517904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4188"/>
            <a:ext cx="198424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หน้าจอที่ส่งคำขอ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หน้ารายงานอัตราที่นั่งเต็ม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(ตัวกรองช่วงวัน)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212848"/>
            <a:ext cx="2249424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13432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ตั้งแต่วันที่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313432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2026-09-18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51176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ถึงวันที่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5511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2026-09-24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0338" y="2843784"/>
            <a:ext cx="1095756" cy="256032"/>
          </a:xfrm>
          <a:prstGeom prst="roundRect">
            <a:avLst>
              <a:gd name="adj" fmla="val 21428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0338" y="2843784"/>
            <a:ext cx="1095756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สร้างรายงาน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47872" y="1371600"/>
            <a:ext cx="2743200" cy="2487168"/>
          </a:xfrm>
          <a:prstGeom prst="roundRect">
            <a:avLst>
              <a:gd name="adj" fmla="val 4411"/>
            </a:avLst>
          </a:prstGeom>
          <a:solidFill>
            <a:srgbClr val="E8F5EF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94176" y="1517904"/>
            <a:ext cx="192024" cy="19202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9352" y="1504188"/>
            <a:ext cx="21854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65F46"/>
                </a:solidFill>
                <a:latin typeface="Leelawadee UI"/>
                <a:ea typeface="Leelawadee UI"/>
                <a:cs typeface="Leelawadee UI"/>
              </a:rPr>
              <a:t>Controller — รับคำขอและตัดสินใจ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1737360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AdminReportController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4176" y="1975104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(Occupancy Action)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2231136"/>
            <a:ext cx="2450592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ผ่านด่านตรวจบทบาทผู้ดูแลระบบ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ตรวจว่าวันที่อยู่ในรูปแบบ ปี-เดือน-วัน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ไม่ระบุวันเริ่มจะนับจากวันนี้เป็นต้นไป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เรียกใช้ Model แล้วส่งรายการรอบกลับไป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39712" y="1371600"/>
            <a:ext cx="2788920" cy="2487168"/>
          </a:xfrm>
          <a:prstGeom prst="roundRect">
            <a:avLst>
              <a:gd name="adj" fmla="val 4411"/>
            </a:avLst>
          </a:prstGeom>
          <a:solidFill>
            <a:srgbClr val="FDF1E1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986016" y="1517904"/>
            <a:ext cx="192024" cy="1920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51192" y="1504188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92400E"/>
                </a:solidFill>
                <a:latin typeface="Leelawadee UI"/>
                <a:ea typeface="Leelawadee UI"/>
                <a:cs typeface="Leelawadee UI"/>
              </a:rPr>
              <a:t>Model — กฎธุรกิจและข้อมูล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6016" y="1737360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ReportModel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2048256"/>
            <a:ext cx="2496312" cy="1664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ดูเฉพาะรอบที่ยังไม่ถูกยกเลิก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คิดอัตราเต็มจากที่นั่งที่ถูกยึด หารด้วยที่นั่งทั้งโรง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นับรวมทั้งที่จ่ายแล้วและที่กำลังถูกกันไว้</a:t>
            </a:r>
          </a:p>
          <a:p>
            <a:pPr algn="l" marL="155448" indent="-155448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Font typeface="Leelawadee UI"/>
              <a:buChar char="•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เรียงตามเวลาเริ่มฉาย และจำกัดไว้ 200 รอบ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1499616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อ่านรอบฉายพร้อมยอดที่นั่ง (SELECT)</a:t>
            </a:r>
          </a:p>
        </p:txBody>
      </p:sp>
      <p:sp>
        <p:nvSpPr>
          <p:cNvPr id="32" name="Can 31"/>
          <p:cNvSpPr/>
          <p:nvPr/>
        </p:nvSpPr>
        <p:spPr>
          <a:xfrm>
            <a:off x="10415016" y="2084832"/>
            <a:ext cx="1005840" cy="896112"/>
          </a:xfrm>
          <a:prstGeom prst="can">
            <a:avLst/>
          </a:prstGeom>
          <a:solidFill>
            <a:srgbClr val="F1EBFC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15016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B21B6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3182112"/>
            <a:ext cx="181051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อัตราที่นั่งเต็มรายรอบ</a:t>
            </a:r>
          </a:p>
        </p:txBody>
      </p:sp>
      <p:sp>
        <p:nvSpPr>
          <p:cNvPr id="35" name="Oval 34"/>
          <p:cNvSpPr/>
          <p:nvPr/>
        </p:nvSpPr>
        <p:spPr>
          <a:xfrm>
            <a:off x="315925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06324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95351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ส่งคำขอ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(Request)</a:t>
            </a:r>
          </a:p>
        </p:txBody>
      </p:sp>
      <p:sp>
        <p:nvSpPr>
          <p:cNvPr id="38" name="Oval 37"/>
          <p:cNvSpPr/>
          <p:nvPr/>
        </p:nvSpPr>
        <p:spPr>
          <a:xfrm>
            <a:off x="6451092" y="1943100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355080" y="2331720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245352" y="240487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ส่งต่อให้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5352" y="28163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คืนผลลัพธ์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6355080" y="3127248"/>
            <a:ext cx="420624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451092" y="328726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692640" y="2331720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9692640" y="3127248"/>
            <a:ext cx="676656" cy="0"/>
          </a:xfrm>
          <a:prstGeom prst="line">
            <a:avLst/>
          </a:prstGeom>
          <a:ln w="2540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1874520" y="4242816"/>
            <a:ext cx="4416552" cy="2212848"/>
          </a:xfrm>
          <a:prstGeom prst="roundRect">
            <a:avLst>
              <a:gd name="adj" fmla="val 4958"/>
            </a:avLst>
          </a:prstGeom>
          <a:solidFill>
            <a:srgbClr val="EEF0FD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020824" y="4389120"/>
            <a:ext cx="192024" cy="1920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0" y="4375404"/>
            <a:ext cx="385876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730A3"/>
                </a:solidFill>
                <a:latin typeface="Leelawadee UI"/>
                <a:ea typeface="Leelawadee UI"/>
                <a:cs typeface="Leelawadee UI"/>
              </a:rPr>
              <a:t>View — หน้าจอที่ระบบตอบกลับ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20824" y="4608576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ตารางอัตราที่นั่งเต็ม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020824" y="4919472"/>
            <a:ext cx="412394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121408" y="5020056"/>
            <a:ext cx="3922776" cy="246888"/>
          </a:xfrm>
          <a:prstGeom prst="roundRect">
            <a:avLst>
              <a:gd name="adj" fmla="val 185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03704" y="5020056"/>
            <a:ext cx="37581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5803D"/>
                </a:solidFill>
                <a:latin typeface="Leelawadee UI"/>
                <a:ea typeface="Leelawadee UI"/>
                <a:cs typeface="Leelawadee UI"/>
              </a:rPr>
              <a:t>แสดง 42 รอบในช่วงที่เลือก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21408" y="531266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20 ก.ย. 20:30 น.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47288" y="5312664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อวตาร ภาค 3 · 96/120 · 80%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21408" y="555040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20 ก.ย. 14:20 น.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555040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อวตาร ภาค 3 · 64/120 · 53%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578815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ประโยชน์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788152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ใช้ตัดสินใจเพิ่มหรือลดรอบ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919472" y="3904488"/>
            <a:ext cx="0" cy="292608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5116068" y="392734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9496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เลือก View ที่จะแสดงผล</a:t>
            </a:r>
          </a:p>
        </p:txBody>
      </p:sp>
      <p:sp>
        <p:nvSpPr>
          <p:cNvPr id="62" name="Oval 61"/>
          <p:cNvSpPr/>
          <p:nvPr/>
        </p:nvSpPr>
        <p:spPr>
          <a:xfrm>
            <a:off x="844723" y="4443984"/>
            <a:ext cx="276515" cy="276515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719633" y="4786335"/>
            <a:ext cx="526694" cy="434523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52669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ผู้ดูแลระบบ</a:t>
            </a:r>
          </a:p>
        </p:txBody>
      </p:sp>
      <p:cxnSp>
        <p:nvCxnSpPr>
          <p:cNvPr id="65" name="Connector 64"/>
          <p:cNvCxnSpPr/>
          <p:nvPr/>
        </p:nvCxnSpPr>
        <p:spPr>
          <a:xfrm flipH="1">
            <a:off x="1563624" y="5870448"/>
            <a:ext cx="256032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1577340" y="5481828"/>
            <a:ext cx="228600" cy="22860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594360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แสดงผลให้ทันที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280"/>
                </a:solidFill>
                <a:latin typeface="Leelawadee UI"/>
                <a:ea typeface="Leelawadee UI"/>
                <a:cs typeface="Leelawadee UI"/>
              </a:rPr>
              <a:t>(Response)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839712" y="4242816"/>
            <a:ext cx="4892040" cy="2212848"/>
          </a:xfrm>
          <a:prstGeom prst="roundRect">
            <a:avLst>
              <a:gd name="adj" fmla="val 4958"/>
            </a:avLst>
          </a:prstGeom>
          <a:solidFill>
            <a:srgbClr val="FAFAF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986016" y="4370832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สรุปการทำงาน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86016" y="4681728"/>
            <a:ext cx="4599432" cy="1347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ผู้ดูแลเลือกช่วงวันที่ต้องการดูอัตราที่นั่งเต็ม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Controller ตรวจรูปแบบวันที่ก่อนส่งต่อ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Model คิดสัดส่วนที่นั่งที่ถูกยึดต่อที่นั่งทั้งโรง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นับรวมทั้งที่จ่ายแล้วและที่กำลังถูกกันไว้</a:t>
            </a:r>
          </a:p>
          <a:p>
            <a:pPr algn="l" marL="219456" indent="-21945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Leelawadee UI"/>
              <a:buAutoNum type="arabicPeriod"/>
            </a:pPr>
            <a:r>
              <a:rPr sz="1000" b="0">
                <a:solidFill>
                  <a:srgbClr val="1F2937"/>
                </a:solidFill>
                <a:latin typeface="Leelawadee UI"/>
                <a:ea typeface="Leelawadee UI"/>
                <a:cs typeface="Leelawadee UI"/>
              </a:rPr>
              <a:t>View แสดงตารางเรียงตามเวลา ใช้ตัดสินใจเพิ่มลดรอบ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986016" y="6028944"/>
            <a:ext cx="4599432" cy="280416"/>
          </a:xfrm>
          <a:prstGeom prst="roundRect">
            <a:avLst>
              <a:gd name="adj" fmla="val 1956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68312" y="6083808"/>
            <a:ext cx="4434840" cy="170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B42318"/>
                </a:solidFill>
                <a:latin typeface="Leelawadee UI"/>
                <a:ea typeface="Leelawadee UI"/>
                <a:cs typeface="Leelawadee UI"/>
              </a:rPr>
              <a:t>หมายเหตุ  นับที่นั่งที่กำลังถูกกันไว้ด้วย ตัวเลขจึงสะท้อนความต้องการจริง ไม่ใช่แค่ยอดที่ปิดการขายแล้ว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271455" y="64739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9CA3AF"/>
                </a:solidFill>
                <a:latin typeface="Leelawadee UI"/>
                <a:ea typeface="Leelawadee UI"/>
                <a:cs typeface="Leelawadee UI"/>
              </a:rPr>
              <a:t>70 / 70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